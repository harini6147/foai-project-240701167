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grandir Tight Bold" charset="1" panose="00000808000000000000"/>
      <p:regular r:id="rId18"/>
    </p:embeddedFont>
    <p:embeddedFont>
      <p:font typeface="Open Sans" charset="1" panose="020B0606030504020204"/>
      <p:regular r:id="rId19"/>
    </p:embeddedFont>
    <p:embeddedFont>
      <p:font typeface="Agrandir Tight Heavy" charset="1" panose="00000A08000000000000"/>
      <p:regular r:id="rId20"/>
    </p:embeddedFont>
    <p:embeddedFont>
      <p:font typeface="Agrandir Tight" charset="1" panose="00000508000000000000"/>
      <p:regular r:id="rId21"/>
    </p:embeddedFont>
    <p:embeddedFont>
      <p:font typeface="The Seasons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0">
            <a:off x="5798634" y="5808748"/>
            <a:ext cx="6690732" cy="4114800"/>
          </a:xfrm>
          <a:custGeom>
            <a:avLst/>
            <a:gdLst/>
            <a:ahLst/>
            <a:cxnLst/>
            <a:rect r="r" b="b" t="t" l="l"/>
            <a:pathLst>
              <a:path h="4114800" w="6690732">
                <a:moveTo>
                  <a:pt x="0" y="0"/>
                </a:moveTo>
                <a:lnTo>
                  <a:pt x="6690732" y="0"/>
                </a:lnTo>
                <a:lnTo>
                  <a:pt x="669073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28735" y="5143500"/>
            <a:ext cx="3724341" cy="4762135"/>
          </a:xfrm>
          <a:custGeom>
            <a:avLst/>
            <a:gdLst/>
            <a:ahLst/>
            <a:cxnLst/>
            <a:rect r="r" b="b" t="t" l="l"/>
            <a:pathLst>
              <a:path h="4762135" w="3724341">
                <a:moveTo>
                  <a:pt x="0" y="0"/>
                </a:moveTo>
                <a:lnTo>
                  <a:pt x="3724341" y="0"/>
                </a:lnTo>
                <a:lnTo>
                  <a:pt x="3724341" y="4762135"/>
                </a:lnTo>
                <a:lnTo>
                  <a:pt x="0" y="4762135"/>
                </a:lnTo>
                <a:lnTo>
                  <a:pt x="0" y="0"/>
                </a:lnTo>
                <a:close/>
              </a:path>
            </a:pathLst>
          </a:custGeom>
          <a:blipFill>
            <a:blip r:embed="rId5"/>
            <a:stretch>
              <a:fillRect l="-14957" t="-793" r="0" b="-793"/>
            </a:stretch>
          </a:blipFill>
        </p:spPr>
      </p:sp>
      <p:sp>
        <p:nvSpPr>
          <p:cNvPr name="Freeform 5" id="5"/>
          <p:cNvSpPr/>
          <p:nvPr/>
        </p:nvSpPr>
        <p:spPr>
          <a:xfrm flipH="false" flipV="false" rot="0">
            <a:off x="13946964" y="5424849"/>
            <a:ext cx="4030142" cy="4380589"/>
          </a:xfrm>
          <a:custGeom>
            <a:avLst/>
            <a:gdLst/>
            <a:ahLst/>
            <a:cxnLst/>
            <a:rect r="r" b="b" t="t" l="l"/>
            <a:pathLst>
              <a:path h="4380589" w="4030142">
                <a:moveTo>
                  <a:pt x="0" y="0"/>
                </a:moveTo>
                <a:lnTo>
                  <a:pt x="4030142" y="0"/>
                </a:lnTo>
                <a:lnTo>
                  <a:pt x="4030142" y="4380589"/>
                </a:lnTo>
                <a:lnTo>
                  <a:pt x="0" y="4380589"/>
                </a:lnTo>
                <a:lnTo>
                  <a:pt x="0" y="0"/>
                </a:lnTo>
                <a:close/>
              </a:path>
            </a:pathLst>
          </a:custGeom>
          <a:blipFill>
            <a:blip r:embed="rId6"/>
            <a:stretch>
              <a:fillRect l="0" t="0" r="0" b="0"/>
            </a:stretch>
          </a:blipFill>
        </p:spPr>
      </p:sp>
      <p:sp>
        <p:nvSpPr>
          <p:cNvPr name="TextBox 6" id="6"/>
          <p:cNvSpPr txBox="true"/>
          <p:nvPr/>
        </p:nvSpPr>
        <p:spPr>
          <a:xfrm rot="0">
            <a:off x="4341036" y="6528659"/>
            <a:ext cx="9605929" cy="1972945"/>
          </a:xfrm>
          <a:prstGeom prst="rect">
            <a:avLst/>
          </a:prstGeom>
        </p:spPr>
        <p:txBody>
          <a:bodyPr anchor="t" rtlCol="false" tIns="0" lIns="0" bIns="0" rIns="0">
            <a:spAutoFit/>
          </a:bodyPr>
          <a:lstStyle/>
          <a:p>
            <a:pPr algn="ctr">
              <a:lnSpc>
                <a:spcPts val="5880"/>
              </a:lnSpc>
            </a:pPr>
            <a:r>
              <a:rPr lang="en-US" sz="4200" b="true">
                <a:solidFill>
                  <a:srgbClr val="1E2E1D"/>
                </a:solidFill>
                <a:latin typeface="Agrandir Tight Bold"/>
                <a:ea typeface="Agrandir Tight Bold"/>
                <a:cs typeface="Agrandir Tight Bold"/>
                <a:sym typeface="Agrandir Tight Bold"/>
              </a:rPr>
              <a:t>Presented By</a:t>
            </a:r>
          </a:p>
          <a:p>
            <a:pPr algn="ctr">
              <a:lnSpc>
                <a:spcPts val="4480"/>
              </a:lnSpc>
            </a:pPr>
            <a:r>
              <a:rPr lang="en-US" sz="3200" b="true">
                <a:solidFill>
                  <a:srgbClr val="1E2E1D"/>
                </a:solidFill>
                <a:latin typeface="Agrandir Tight Bold"/>
                <a:ea typeface="Agrandir Tight Bold"/>
                <a:cs typeface="Agrandir Tight Bold"/>
                <a:sym typeface="Agrandir Tight Bold"/>
              </a:rPr>
              <a:t>HARINI NAGARAJAN 240701167</a:t>
            </a:r>
          </a:p>
          <a:p>
            <a:pPr algn="ctr">
              <a:lnSpc>
                <a:spcPts val="4480"/>
              </a:lnSpc>
            </a:pPr>
            <a:r>
              <a:rPr lang="en-US" sz="3200" b="true">
                <a:solidFill>
                  <a:srgbClr val="1E2E1D"/>
                </a:solidFill>
                <a:latin typeface="Agrandir Tight Bold"/>
                <a:ea typeface="Agrandir Tight Bold"/>
                <a:cs typeface="Agrandir Tight Bold"/>
                <a:sym typeface="Agrandir Tight Bold"/>
              </a:rPr>
              <a:t>HARISHNI.B 240701176</a:t>
            </a:r>
          </a:p>
        </p:txBody>
      </p:sp>
      <p:sp>
        <p:nvSpPr>
          <p:cNvPr name="TextBox 7" id="7"/>
          <p:cNvSpPr txBox="true"/>
          <p:nvPr/>
        </p:nvSpPr>
        <p:spPr>
          <a:xfrm rot="0">
            <a:off x="6142286" y="1036323"/>
            <a:ext cx="6003429" cy="836295"/>
          </a:xfrm>
          <a:prstGeom prst="rect">
            <a:avLst/>
          </a:prstGeom>
        </p:spPr>
        <p:txBody>
          <a:bodyPr anchor="t" rtlCol="false" tIns="0" lIns="0" bIns="0" rIns="0">
            <a:spAutoFit/>
          </a:bodyPr>
          <a:lstStyle/>
          <a:p>
            <a:pPr algn="ctr">
              <a:lnSpc>
                <a:spcPts val="5880"/>
              </a:lnSpc>
              <a:spcBef>
                <a:spcPct val="0"/>
              </a:spcBef>
            </a:pPr>
            <a:r>
              <a:rPr lang="en-US" b="true" sz="4200">
                <a:solidFill>
                  <a:srgbClr val="1E2E1D"/>
                </a:solidFill>
                <a:latin typeface="Agrandir Tight Bold"/>
                <a:ea typeface="Agrandir Tight Bold"/>
                <a:cs typeface="Agrandir Tight Bold"/>
                <a:sym typeface="Agrandir Tight Bold"/>
              </a:rPr>
              <a:t>DIGITAL WORK PASSPORT</a:t>
            </a:r>
          </a:p>
        </p:txBody>
      </p:sp>
      <p:sp>
        <p:nvSpPr>
          <p:cNvPr name="TextBox 8" id="8"/>
          <p:cNvSpPr txBox="true"/>
          <p:nvPr/>
        </p:nvSpPr>
        <p:spPr>
          <a:xfrm rot="0">
            <a:off x="0" y="1839104"/>
            <a:ext cx="18288000" cy="2640330"/>
          </a:xfrm>
          <a:prstGeom prst="rect">
            <a:avLst/>
          </a:prstGeom>
        </p:spPr>
        <p:txBody>
          <a:bodyPr anchor="t" rtlCol="false" tIns="0" lIns="0" bIns="0" rIns="0">
            <a:spAutoFit/>
          </a:bodyPr>
          <a:lstStyle/>
          <a:p>
            <a:pPr algn="ctr">
              <a:lnSpc>
                <a:spcPts val="6719"/>
              </a:lnSpc>
            </a:pPr>
            <a:r>
              <a:rPr lang="en-US" sz="4800" b="true">
                <a:solidFill>
                  <a:srgbClr val="1E2E1D"/>
                </a:solidFill>
                <a:latin typeface="Agrandir Tight Bold"/>
                <a:ea typeface="Agrandir Tight Bold"/>
                <a:cs typeface="Agrandir Tight Bold"/>
                <a:sym typeface="Agrandir Tight Bold"/>
              </a:rPr>
              <a:t>A Digital Work History and Job-Matching Platform for Informal Workers</a:t>
            </a:r>
          </a:p>
          <a:p>
            <a:pPr algn="ctr">
              <a:lnSpc>
                <a:spcPts val="6719"/>
              </a:lnSpc>
              <a:spcBef>
                <a:spcPct val="0"/>
              </a:spcBef>
            </a:pPr>
            <a:r>
              <a:rPr lang="en-US" sz="4800">
                <a:solidFill>
                  <a:srgbClr val="1E2E1D"/>
                </a:solidFill>
                <a:latin typeface="Open Sans"/>
                <a:ea typeface="Open Sans"/>
                <a:cs typeface="Open Sans"/>
                <a:sym typeface="Open Sans"/>
              </a:rPr>
              <a:t>t</a:t>
            </a:r>
          </a:p>
        </p:txBody>
      </p:sp>
      <p:sp>
        <p:nvSpPr>
          <p:cNvPr name="TextBox 9" id="9"/>
          <p:cNvSpPr txBox="true"/>
          <p:nvPr/>
        </p:nvSpPr>
        <p:spPr>
          <a:xfrm rot="0">
            <a:off x="2885622" y="4032393"/>
            <a:ext cx="12834067" cy="687705"/>
          </a:xfrm>
          <a:prstGeom prst="rect">
            <a:avLst/>
          </a:prstGeom>
        </p:spPr>
        <p:txBody>
          <a:bodyPr anchor="t" rtlCol="false" tIns="0" lIns="0" bIns="0" rIns="0">
            <a:spAutoFit/>
          </a:bodyPr>
          <a:lstStyle/>
          <a:p>
            <a:pPr algn="ctr">
              <a:lnSpc>
                <a:spcPts val="4200"/>
              </a:lnSpc>
            </a:pPr>
            <a:r>
              <a:rPr lang="en-US" sz="4200" b="true">
                <a:solidFill>
                  <a:srgbClr val="000000"/>
                </a:solidFill>
                <a:latin typeface="Agrandir Tight Heavy"/>
                <a:ea typeface="Agrandir Tight Heavy"/>
                <a:cs typeface="Agrandir Tight Heavy"/>
                <a:sym typeface="Agrandir Tight Heavy"/>
              </a:rPr>
              <a:t>FOUNDATIONS OF ARTIFICIAL INTELLIGENCE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1466017" y="1949620"/>
            <a:ext cx="15355966" cy="8439683"/>
            <a:chOff x="0" y="0"/>
            <a:chExt cx="1338348" cy="735560"/>
          </a:xfrm>
        </p:grpSpPr>
        <p:sp>
          <p:nvSpPr>
            <p:cNvPr name="Freeform 4" id="4"/>
            <p:cNvSpPr/>
            <p:nvPr/>
          </p:nvSpPr>
          <p:spPr>
            <a:xfrm flipH="false" flipV="false" rot="0">
              <a:off x="0" y="0"/>
              <a:ext cx="1338348" cy="735560"/>
            </a:xfrm>
            <a:custGeom>
              <a:avLst/>
              <a:gdLst/>
              <a:ahLst/>
              <a:cxnLst/>
              <a:rect r="r" b="b" t="t" l="l"/>
              <a:pathLst>
                <a:path h="735560" w="1338348">
                  <a:moveTo>
                    <a:pt x="0" y="0"/>
                  </a:moveTo>
                  <a:lnTo>
                    <a:pt x="1338348" y="0"/>
                  </a:lnTo>
                  <a:lnTo>
                    <a:pt x="1338348" y="735560"/>
                  </a:lnTo>
                  <a:lnTo>
                    <a:pt x="0" y="735560"/>
                  </a:lnTo>
                  <a:close/>
                </a:path>
              </a:pathLst>
            </a:custGeom>
            <a:solidFill>
              <a:srgbClr val="F4DDC0"/>
            </a:solidFill>
          </p:spPr>
        </p:sp>
        <p:sp>
          <p:nvSpPr>
            <p:cNvPr name="TextBox 5" id="5"/>
            <p:cNvSpPr txBox="true"/>
            <p:nvPr/>
          </p:nvSpPr>
          <p:spPr>
            <a:xfrm>
              <a:off x="0" y="-142875"/>
              <a:ext cx="1338348" cy="878435"/>
            </a:xfrm>
            <a:prstGeom prst="rect">
              <a:avLst/>
            </a:prstGeom>
          </p:spPr>
          <p:txBody>
            <a:bodyPr anchor="ctr" rtlCol="false" tIns="50800" lIns="50800" bIns="50800" rIns="50800"/>
            <a:lstStyle/>
            <a:p>
              <a:pPr algn="ctr">
                <a:lnSpc>
                  <a:spcPts val="4480"/>
                </a:lnSpc>
              </a:pPr>
              <a:r>
                <a:rPr lang="en-US" sz="3200">
                  <a:solidFill>
                    <a:srgbClr val="1E2E1D"/>
                  </a:solidFill>
                  <a:latin typeface="Agrandir Tight"/>
                  <a:ea typeface="Agrandir Tight"/>
                  <a:cs typeface="Agrandir Tight"/>
                  <a:sym typeface="Agrandir Tight"/>
                </a:rPr>
                <a:t>Millions of informal workers in India work as domestic helpers, beauticians, tailors, cooks, vendors, construction workers, and other independent service providers. However, much of their work experience and income remains undocumented.</a:t>
              </a:r>
            </a:p>
            <a:p>
              <a:pPr algn="ctr">
                <a:lnSpc>
                  <a:spcPts val="4480"/>
                </a:lnSpc>
              </a:pPr>
            </a:p>
            <a:p>
              <a:pPr algn="ctr">
                <a:lnSpc>
                  <a:spcPts val="4480"/>
                </a:lnSpc>
              </a:pPr>
              <a:r>
                <a:rPr lang="en-US" sz="3200">
                  <a:solidFill>
                    <a:srgbClr val="1E2E1D"/>
                  </a:solidFill>
                  <a:latin typeface="Agrandir Tight"/>
                  <a:ea typeface="Agrandir Tight"/>
                  <a:cs typeface="Agrandir Tight"/>
                  <a:sym typeface="Agrandir Tight"/>
                </a:rPr>
                <a:t>As a result, workers may struggle to prove their experience when applying for better jobs, demonstrate their income when seeking financial services, identify relevant government welfare schemes, and maintain records of their employment and client relationships.</a:t>
              </a:r>
            </a:p>
            <a:p>
              <a:pPr algn="ctr">
                <a:lnSpc>
                  <a:spcPts val="4480"/>
                </a:lnSpc>
              </a:pPr>
              <a:r>
                <a:rPr lang="en-US" sz="3200">
                  <a:solidFill>
                    <a:srgbClr val="1E2E1D"/>
                  </a:solidFill>
                  <a:latin typeface="Agrandir Tight"/>
                  <a:ea typeface="Agrandir Tight"/>
                  <a:cs typeface="Agrandir Tight"/>
                  <a:sym typeface="Agrandir Tight"/>
                </a:rPr>
                <a:t>Communication barriers between workers and clients who speak different languages can further limit employment opportunities.</a:t>
              </a:r>
            </a:p>
            <a:p>
              <a:pPr algn="ctr">
                <a:lnSpc>
                  <a:spcPts val="4480"/>
                </a:lnSpc>
              </a:pPr>
            </a:p>
            <a:p>
              <a:pPr algn="ctr">
                <a:lnSpc>
                  <a:spcPts val="4480"/>
                </a:lnSpc>
              </a:pPr>
              <a:r>
                <a:rPr lang="en-US" sz="3200">
                  <a:solidFill>
                    <a:srgbClr val="1E2E1D"/>
                  </a:solidFill>
                  <a:latin typeface="Agrandir Tight"/>
                  <a:ea typeface="Agrandir Tight"/>
                  <a:cs typeface="Agrandir Tight"/>
                  <a:sym typeface="Agrandir Tight"/>
                </a:rPr>
                <a:t>Therefore, there is a need for a simple digital platform that creates a verified work history, supports worker–client communication, enables multilingual access, and helps workers discover better employment opportunities.</a:t>
              </a:r>
            </a:p>
            <a:p>
              <a:pPr algn="just">
                <a:lnSpc>
                  <a:spcPts val="4480"/>
                </a:lnSpc>
                <a:spcBef>
                  <a:spcPct val="0"/>
                </a:spcBef>
              </a:pPr>
            </a:p>
          </p:txBody>
        </p:sp>
      </p:grpSp>
      <p:sp>
        <p:nvSpPr>
          <p:cNvPr name="Freeform 6" id="6"/>
          <p:cNvSpPr/>
          <p:nvPr/>
        </p:nvSpPr>
        <p:spPr>
          <a:xfrm flipH="false" flipV="false" rot="0">
            <a:off x="29321" y="38814"/>
            <a:ext cx="2873392" cy="1910805"/>
          </a:xfrm>
          <a:custGeom>
            <a:avLst/>
            <a:gdLst/>
            <a:ahLst/>
            <a:cxnLst/>
            <a:rect r="r" b="b" t="t" l="l"/>
            <a:pathLst>
              <a:path h="1910805" w="2873392">
                <a:moveTo>
                  <a:pt x="0" y="0"/>
                </a:moveTo>
                <a:lnTo>
                  <a:pt x="2873392" y="0"/>
                </a:lnTo>
                <a:lnTo>
                  <a:pt x="2873392" y="1910806"/>
                </a:lnTo>
                <a:lnTo>
                  <a:pt x="0" y="1910806"/>
                </a:lnTo>
                <a:lnTo>
                  <a:pt x="0" y="0"/>
                </a:lnTo>
                <a:close/>
              </a:path>
            </a:pathLst>
          </a:custGeom>
          <a:blipFill>
            <a:blip r:embed="rId3"/>
            <a:stretch>
              <a:fillRect l="0" t="0" r="0" b="0"/>
            </a:stretch>
          </a:blipFill>
        </p:spPr>
      </p:sp>
      <p:sp>
        <p:nvSpPr>
          <p:cNvPr name="Freeform 7" id="7"/>
          <p:cNvSpPr/>
          <p:nvPr/>
        </p:nvSpPr>
        <p:spPr>
          <a:xfrm flipH="false" flipV="false" rot="0">
            <a:off x="16207340" y="8903361"/>
            <a:ext cx="2080660" cy="1383639"/>
          </a:xfrm>
          <a:custGeom>
            <a:avLst/>
            <a:gdLst/>
            <a:ahLst/>
            <a:cxnLst/>
            <a:rect r="r" b="b" t="t" l="l"/>
            <a:pathLst>
              <a:path h="1383639" w="2080660">
                <a:moveTo>
                  <a:pt x="0" y="0"/>
                </a:moveTo>
                <a:lnTo>
                  <a:pt x="2080660" y="0"/>
                </a:lnTo>
                <a:lnTo>
                  <a:pt x="2080660" y="1383639"/>
                </a:lnTo>
                <a:lnTo>
                  <a:pt x="0" y="1383639"/>
                </a:lnTo>
                <a:lnTo>
                  <a:pt x="0" y="0"/>
                </a:lnTo>
                <a:close/>
              </a:path>
            </a:pathLst>
          </a:custGeom>
          <a:blipFill>
            <a:blip r:embed="rId4"/>
            <a:stretch>
              <a:fillRect l="0" t="0" r="0" b="0"/>
            </a:stretch>
          </a:blipFill>
        </p:spPr>
      </p:sp>
      <p:sp>
        <p:nvSpPr>
          <p:cNvPr name="TextBox 8" id="8"/>
          <p:cNvSpPr txBox="true"/>
          <p:nvPr/>
        </p:nvSpPr>
        <p:spPr>
          <a:xfrm rot="0">
            <a:off x="3846720" y="549445"/>
            <a:ext cx="10594560" cy="1400174"/>
          </a:xfrm>
          <a:prstGeom prst="rect">
            <a:avLst/>
          </a:prstGeom>
        </p:spPr>
        <p:txBody>
          <a:bodyPr anchor="t" rtlCol="false" tIns="0" lIns="0" bIns="0" rIns="0">
            <a:spAutoFit/>
          </a:bodyPr>
          <a:lstStyle/>
          <a:p>
            <a:pPr algn="ctr">
              <a:lnSpc>
                <a:spcPts val="11200"/>
              </a:lnSpc>
            </a:pPr>
            <a:r>
              <a:rPr lang="en-US" sz="8000" b="true">
                <a:solidFill>
                  <a:srgbClr val="1E2E1D"/>
                </a:solidFill>
                <a:latin typeface="The Seasons Bold"/>
                <a:ea typeface="The Seasons Bold"/>
                <a:cs typeface="The Seasons Bold"/>
                <a:sym typeface="The Seasons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1195190" y="1513942"/>
            <a:ext cx="15897621" cy="8773058"/>
            <a:chOff x="0" y="0"/>
            <a:chExt cx="1385556" cy="764615"/>
          </a:xfrm>
        </p:grpSpPr>
        <p:sp>
          <p:nvSpPr>
            <p:cNvPr name="Freeform 4" id="4"/>
            <p:cNvSpPr/>
            <p:nvPr/>
          </p:nvSpPr>
          <p:spPr>
            <a:xfrm flipH="false" flipV="false" rot="0">
              <a:off x="0" y="0"/>
              <a:ext cx="1385556" cy="764615"/>
            </a:xfrm>
            <a:custGeom>
              <a:avLst/>
              <a:gdLst/>
              <a:ahLst/>
              <a:cxnLst/>
              <a:rect r="r" b="b" t="t" l="l"/>
              <a:pathLst>
                <a:path h="764615" w="1385556">
                  <a:moveTo>
                    <a:pt x="0" y="0"/>
                  </a:moveTo>
                  <a:lnTo>
                    <a:pt x="1385556" y="0"/>
                  </a:lnTo>
                  <a:lnTo>
                    <a:pt x="1385556" y="764615"/>
                  </a:lnTo>
                  <a:lnTo>
                    <a:pt x="0" y="764615"/>
                  </a:lnTo>
                  <a:close/>
                </a:path>
              </a:pathLst>
            </a:custGeom>
            <a:solidFill>
              <a:srgbClr val="F4DDC0"/>
            </a:solidFill>
          </p:spPr>
        </p:sp>
        <p:sp>
          <p:nvSpPr>
            <p:cNvPr name="TextBox 5" id="5"/>
            <p:cNvSpPr txBox="true"/>
            <p:nvPr/>
          </p:nvSpPr>
          <p:spPr>
            <a:xfrm>
              <a:off x="0" y="-161925"/>
              <a:ext cx="1385556" cy="926540"/>
            </a:xfrm>
            <a:prstGeom prst="rect">
              <a:avLst/>
            </a:prstGeom>
          </p:spPr>
          <p:txBody>
            <a:bodyPr anchor="ctr" rtlCol="false" tIns="50800" lIns="50800" bIns="50800" rIns="50800"/>
            <a:lstStyle/>
            <a:p>
              <a:pPr algn="ctr">
                <a:lnSpc>
                  <a:spcPts val="5040"/>
                </a:lnSpc>
              </a:pPr>
              <a:r>
                <a:rPr lang="en-US" sz="3600">
                  <a:solidFill>
                    <a:srgbClr val="1E2E1D"/>
                  </a:solidFill>
                  <a:latin typeface="Agrandir Tight"/>
                  <a:ea typeface="Agrandir Tight"/>
                  <a:cs typeface="Agrandir Tight"/>
                  <a:sym typeface="Agrandir Tight"/>
                </a:rPr>
                <a:t>The Digital Work Passport is a web-based platform designed to help informal workers maintain a digital record of their work experience, income history, client confirmations, and ratings.</a:t>
              </a:r>
            </a:p>
            <a:p>
              <a:pPr algn="ctr">
                <a:lnSpc>
                  <a:spcPts val="5040"/>
                </a:lnSpc>
              </a:pPr>
              <a:r>
                <a:rPr lang="en-US" sz="3600">
                  <a:solidFill>
                    <a:srgbClr val="1E2E1D"/>
                  </a:solidFill>
                  <a:latin typeface="Agrandir Tight"/>
                  <a:ea typeface="Agrandir Tight"/>
                  <a:cs typeface="Agrandir Tight"/>
                  <a:sym typeface="Agrandir Tight"/>
                </a:rPr>
                <a:t>The platform allows workers and clients to communicate through an integrated messaging system. Messages can be translated into the user's preferred language, and the website interface is available in Tamil, English, and Hindi.</a:t>
              </a:r>
            </a:p>
            <a:p>
              <a:pPr algn="just">
                <a:lnSpc>
                  <a:spcPts val="4480"/>
                </a:lnSpc>
              </a:pPr>
              <a:r>
                <a:rPr lang="en-US" sz="3200">
                  <a:solidFill>
                    <a:srgbClr val="1E2E1D"/>
                  </a:solidFill>
                  <a:latin typeface="Agrandir Tight"/>
                  <a:ea typeface="Agrandir Tight"/>
                  <a:cs typeface="Agrandir Tight"/>
                  <a:sym typeface="Agrandir Tight"/>
                </a:rPr>
                <a:t>The system uses React.js for the frontend, FastAPI for the backend, and SQLite for data storage. Artificial Intelligence search and constraint-solving techniques are incorporated through the A* search algorithm and Constraint Satisfaction Problem (CSP) approach to support job matching and rule-based eligibility checks.</a:t>
              </a:r>
            </a:p>
            <a:p>
              <a:pPr algn="ctr">
                <a:lnSpc>
                  <a:spcPts val="5040"/>
                </a:lnSpc>
              </a:pPr>
              <a:r>
                <a:rPr lang="en-US" sz="3600">
                  <a:solidFill>
                    <a:srgbClr val="1E2E1D"/>
                  </a:solidFill>
                  <a:latin typeface="Agrandir Tight"/>
                  <a:ea typeface="Agrandir Tight"/>
                  <a:cs typeface="Agrandir Tight"/>
                  <a:sym typeface="Agrandir Tight"/>
                </a:rPr>
                <a:t>The proposed system aims to improve the visibility of informal work, simplify communication, and support access to employment opportunities and relevant welfare information.</a:t>
              </a:r>
            </a:p>
            <a:p>
              <a:pPr algn="ctr">
                <a:lnSpc>
                  <a:spcPts val="5040"/>
                </a:lnSpc>
                <a:spcBef>
                  <a:spcPct val="0"/>
                </a:spcBef>
              </a:pPr>
            </a:p>
          </p:txBody>
        </p:sp>
      </p:grpSp>
      <p:sp>
        <p:nvSpPr>
          <p:cNvPr name="Freeform 6" id="6"/>
          <p:cNvSpPr/>
          <p:nvPr/>
        </p:nvSpPr>
        <p:spPr>
          <a:xfrm flipH="false" flipV="false" rot="0">
            <a:off x="19406" y="0"/>
            <a:ext cx="2018589" cy="1513942"/>
          </a:xfrm>
          <a:custGeom>
            <a:avLst/>
            <a:gdLst/>
            <a:ahLst/>
            <a:cxnLst/>
            <a:rect r="r" b="b" t="t" l="l"/>
            <a:pathLst>
              <a:path h="1513942" w="2018589">
                <a:moveTo>
                  <a:pt x="0" y="0"/>
                </a:moveTo>
                <a:lnTo>
                  <a:pt x="2018588" y="0"/>
                </a:lnTo>
                <a:lnTo>
                  <a:pt x="2018588" y="1513942"/>
                </a:lnTo>
                <a:lnTo>
                  <a:pt x="0" y="1513942"/>
                </a:lnTo>
                <a:lnTo>
                  <a:pt x="0" y="0"/>
                </a:lnTo>
                <a:close/>
              </a:path>
            </a:pathLst>
          </a:custGeom>
          <a:blipFill>
            <a:blip r:embed="rId3"/>
            <a:stretch>
              <a:fillRect l="0" t="0" r="0" b="0"/>
            </a:stretch>
          </a:blipFill>
        </p:spPr>
      </p:sp>
      <p:sp>
        <p:nvSpPr>
          <p:cNvPr name="Freeform 7" id="7"/>
          <p:cNvSpPr/>
          <p:nvPr/>
        </p:nvSpPr>
        <p:spPr>
          <a:xfrm flipH="false" flipV="false" rot="0">
            <a:off x="16655787" y="8308559"/>
            <a:ext cx="1632213" cy="1978441"/>
          </a:xfrm>
          <a:custGeom>
            <a:avLst/>
            <a:gdLst/>
            <a:ahLst/>
            <a:cxnLst/>
            <a:rect r="r" b="b" t="t" l="l"/>
            <a:pathLst>
              <a:path h="1978441" w="1632213">
                <a:moveTo>
                  <a:pt x="0" y="0"/>
                </a:moveTo>
                <a:lnTo>
                  <a:pt x="1632213" y="0"/>
                </a:lnTo>
                <a:lnTo>
                  <a:pt x="1632213" y="1978441"/>
                </a:lnTo>
                <a:lnTo>
                  <a:pt x="0" y="1978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341036" y="-228600"/>
            <a:ext cx="9605929" cy="1957961"/>
          </a:xfrm>
          <a:prstGeom prst="rect">
            <a:avLst/>
          </a:prstGeom>
        </p:spPr>
        <p:txBody>
          <a:bodyPr anchor="t" rtlCol="false" tIns="0" lIns="0" bIns="0" rIns="0">
            <a:spAutoFit/>
          </a:bodyPr>
          <a:lstStyle/>
          <a:p>
            <a:pPr algn="ctr">
              <a:lnSpc>
                <a:spcPts val="15711"/>
              </a:lnSpc>
            </a:pPr>
            <a:r>
              <a:rPr lang="en-US" sz="11222" b="true">
                <a:solidFill>
                  <a:srgbClr val="1E2E1D"/>
                </a:solidFill>
                <a:latin typeface="The Seasons Bold"/>
                <a:ea typeface="The Seasons Bold"/>
                <a:cs typeface="The Seasons Bold"/>
                <a:sym typeface="The Seasons Bold"/>
              </a:rPr>
              <a:t>Abstract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514350" y="1963680"/>
            <a:ext cx="17259300" cy="7944650"/>
            <a:chOff x="0" y="0"/>
            <a:chExt cx="1504233" cy="692415"/>
          </a:xfrm>
        </p:grpSpPr>
        <p:sp>
          <p:nvSpPr>
            <p:cNvPr name="Freeform 4" id="4"/>
            <p:cNvSpPr/>
            <p:nvPr/>
          </p:nvSpPr>
          <p:spPr>
            <a:xfrm flipH="false" flipV="false" rot="0">
              <a:off x="0" y="0"/>
              <a:ext cx="1504233" cy="692415"/>
            </a:xfrm>
            <a:custGeom>
              <a:avLst/>
              <a:gdLst/>
              <a:ahLst/>
              <a:cxnLst/>
              <a:rect r="r" b="b" t="t" l="l"/>
              <a:pathLst>
                <a:path h="692415" w="1504233">
                  <a:moveTo>
                    <a:pt x="0" y="0"/>
                  </a:moveTo>
                  <a:lnTo>
                    <a:pt x="1504233" y="0"/>
                  </a:lnTo>
                  <a:lnTo>
                    <a:pt x="1504233" y="692415"/>
                  </a:lnTo>
                  <a:lnTo>
                    <a:pt x="0" y="692415"/>
                  </a:lnTo>
                  <a:close/>
                </a:path>
              </a:pathLst>
            </a:custGeom>
            <a:solidFill>
              <a:srgbClr val="F4DDC0"/>
            </a:solidFill>
          </p:spPr>
        </p:sp>
        <p:sp>
          <p:nvSpPr>
            <p:cNvPr name="TextBox 5" id="5"/>
            <p:cNvSpPr txBox="true"/>
            <p:nvPr/>
          </p:nvSpPr>
          <p:spPr>
            <a:xfrm>
              <a:off x="0" y="-142875"/>
              <a:ext cx="1504233" cy="835290"/>
            </a:xfrm>
            <a:prstGeom prst="rect">
              <a:avLst/>
            </a:prstGeom>
          </p:spPr>
          <p:txBody>
            <a:bodyPr anchor="ctr" rtlCol="false" tIns="50800" lIns="50800" bIns="50800" rIns="50800"/>
            <a:lstStyle/>
            <a:p>
              <a:pPr algn="ctr" marL="690881" indent="-345440" lvl="1">
                <a:lnSpc>
                  <a:spcPts val="4480"/>
                </a:lnSpc>
                <a:buAutoNum type="arabicPeriod" startAt="1"/>
              </a:pPr>
              <a:r>
                <a:rPr lang="en-US" sz="3200">
                  <a:solidFill>
                    <a:srgbClr val="1E2E1D"/>
                  </a:solidFill>
                  <a:latin typeface="Agrandir Tight"/>
                  <a:ea typeface="Agrandir Tight"/>
                  <a:cs typeface="Agrandir Tight"/>
                  <a:sym typeface="Agrandir Tight"/>
                </a:rPr>
                <a:t>Digital Work Records: Digital profiles and employment records can help workers present their skills and previous experience.</a:t>
              </a:r>
            </a:p>
            <a:p>
              <a:pPr algn="ctr" marL="690881" indent="-345440" lvl="1">
                <a:lnSpc>
                  <a:spcPts val="4480"/>
                </a:lnSpc>
                <a:buAutoNum type="arabicPeriod" startAt="1"/>
              </a:pPr>
              <a:r>
                <a:rPr lang="en-US" sz="3200">
                  <a:solidFill>
                    <a:srgbClr val="1E2E1D"/>
                  </a:solidFill>
                  <a:latin typeface="Agrandir Tight"/>
                  <a:ea typeface="Agrandir Tight"/>
                  <a:cs typeface="Agrandir Tight"/>
                  <a:sym typeface="Agrandir Tight"/>
                </a:rPr>
                <a:t>Online Job-Matching Platforms: Existing platforms connect service providers with customers using skills, location, availability and other preferences.</a:t>
              </a:r>
            </a:p>
            <a:p>
              <a:pPr algn="ctr" marL="690881" indent="-345440" lvl="1">
                <a:lnSpc>
                  <a:spcPts val="4480"/>
                </a:lnSpc>
                <a:buAutoNum type="arabicPeriod" startAt="1"/>
              </a:pPr>
              <a:r>
                <a:rPr lang="en-US" sz="3200">
                  <a:solidFill>
                    <a:srgbClr val="1E2E1D"/>
                  </a:solidFill>
                  <a:latin typeface="Agrandir Tight"/>
                  <a:ea typeface="Agrandir Tight"/>
                  <a:cs typeface="Agrandir Tight"/>
                  <a:sym typeface="Agrandir Tight"/>
                </a:rPr>
                <a:t>Rating and Review Systems: Customer feedback and job confirmations can help build a record of reliability and service quality.</a:t>
              </a:r>
            </a:p>
            <a:p>
              <a:pPr algn="ctr" marL="690881" indent="-345440" lvl="1">
                <a:lnSpc>
                  <a:spcPts val="4480"/>
                </a:lnSpc>
                <a:buAutoNum type="arabicPeriod" startAt="1"/>
              </a:pPr>
              <a:r>
                <a:rPr lang="en-US" sz="3200">
                  <a:solidFill>
                    <a:srgbClr val="1E2E1D"/>
                  </a:solidFill>
                  <a:latin typeface="Agrandir Tight"/>
                  <a:ea typeface="Agrandir Tight"/>
                  <a:cs typeface="Agrandir Tight"/>
                  <a:sym typeface="Agrandir Tight"/>
                </a:rPr>
                <a:t>Multilingual Digital Platforms: Regional-language interfaces and message translation can reduce communication barriers between people who speak different languages.</a:t>
              </a:r>
            </a:p>
            <a:p>
              <a:pPr algn="ctr" marL="690881" indent="-345440" lvl="1">
                <a:lnSpc>
                  <a:spcPts val="4480"/>
                </a:lnSpc>
                <a:buAutoNum type="arabicPeriod" startAt="1"/>
              </a:pPr>
              <a:r>
                <a:rPr lang="en-US" sz="3200">
                  <a:solidFill>
                    <a:srgbClr val="1E2E1D"/>
                  </a:solidFill>
                  <a:latin typeface="Agrandir Tight"/>
                  <a:ea typeface="Agrandir Tight"/>
                  <a:cs typeface="Agrandir Tight"/>
                  <a:sym typeface="Agrandir Tight"/>
                </a:rPr>
                <a:t>AI-Based Search and Constraint Solving: Search algorithms and constraint-based techniques can support the selection of suitable jobs and checking of predefined requirements.</a:t>
              </a:r>
            </a:p>
            <a:p>
              <a:pPr algn="ctr">
                <a:lnSpc>
                  <a:spcPts val="4480"/>
                </a:lnSpc>
              </a:pPr>
              <a:r>
                <a:rPr lang="en-US" sz="3200">
                  <a:solidFill>
                    <a:srgbClr val="1E2E1D"/>
                  </a:solidFill>
                  <a:latin typeface="Agrandir Tight"/>
                  <a:ea typeface="Agrandir Tight"/>
                  <a:cs typeface="Agrandir Tight"/>
                  <a:sym typeface="Agrandir Tight"/>
                </a:rPr>
                <a:t>Identified opportunity: Integrate digital work-history records, client confirmations, worker–client messaging, multilingual access and AI-based job matching into one platform for informal workers.</a:t>
              </a:r>
            </a:p>
            <a:p>
              <a:pPr algn="ctr">
                <a:lnSpc>
                  <a:spcPts val="4480"/>
                </a:lnSpc>
                <a:spcBef>
                  <a:spcPct val="0"/>
                </a:spcBef>
              </a:pPr>
            </a:p>
          </p:txBody>
        </p:sp>
      </p:grpSp>
      <p:sp>
        <p:nvSpPr>
          <p:cNvPr name="Freeform 6" id="6"/>
          <p:cNvSpPr/>
          <p:nvPr/>
        </p:nvSpPr>
        <p:spPr>
          <a:xfrm flipH="false" flipV="false" rot="0">
            <a:off x="0" y="0"/>
            <a:ext cx="2952903" cy="1963680"/>
          </a:xfrm>
          <a:custGeom>
            <a:avLst/>
            <a:gdLst/>
            <a:ahLst/>
            <a:cxnLst/>
            <a:rect r="r" b="b" t="t" l="l"/>
            <a:pathLst>
              <a:path h="1963680" w="2952903">
                <a:moveTo>
                  <a:pt x="0" y="0"/>
                </a:moveTo>
                <a:lnTo>
                  <a:pt x="2952903" y="0"/>
                </a:lnTo>
                <a:lnTo>
                  <a:pt x="2952903" y="1963680"/>
                </a:lnTo>
                <a:lnTo>
                  <a:pt x="0" y="1963680"/>
                </a:lnTo>
                <a:lnTo>
                  <a:pt x="0" y="0"/>
                </a:lnTo>
                <a:close/>
              </a:path>
            </a:pathLst>
          </a:custGeom>
          <a:blipFill>
            <a:blip r:embed="rId3"/>
            <a:stretch>
              <a:fillRect l="0" t="0" r="0" b="0"/>
            </a:stretch>
          </a:blipFill>
        </p:spPr>
      </p:sp>
      <p:sp>
        <p:nvSpPr>
          <p:cNvPr name="Freeform 7" id="7"/>
          <p:cNvSpPr/>
          <p:nvPr/>
        </p:nvSpPr>
        <p:spPr>
          <a:xfrm flipH="false" flipV="false" rot="0">
            <a:off x="15764246" y="8811006"/>
            <a:ext cx="2523754" cy="1475994"/>
          </a:xfrm>
          <a:custGeom>
            <a:avLst/>
            <a:gdLst/>
            <a:ahLst/>
            <a:cxnLst/>
            <a:rect r="r" b="b" t="t" l="l"/>
            <a:pathLst>
              <a:path h="1475994" w="2523754">
                <a:moveTo>
                  <a:pt x="0" y="0"/>
                </a:moveTo>
                <a:lnTo>
                  <a:pt x="2523754" y="0"/>
                </a:lnTo>
                <a:lnTo>
                  <a:pt x="2523754" y="1475994"/>
                </a:lnTo>
                <a:lnTo>
                  <a:pt x="0" y="1475994"/>
                </a:lnTo>
                <a:lnTo>
                  <a:pt x="0" y="0"/>
                </a:lnTo>
                <a:close/>
              </a:path>
            </a:pathLst>
          </a:custGeom>
          <a:blipFill>
            <a:blip r:embed="rId4"/>
            <a:stretch>
              <a:fillRect l="0" t="-6853" r="0" b="-6853"/>
            </a:stretch>
          </a:blipFill>
        </p:spPr>
      </p:sp>
      <p:sp>
        <p:nvSpPr>
          <p:cNvPr name="TextBox 8" id="8"/>
          <p:cNvSpPr txBox="true"/>
          <p:nvPr/>
        </p:nvSpPr>
        <p:spPr>
          <a:xfrm rot="0">
            <a:off x="3766475" y="19310"/>
            <a:ext cx="11134852" cy="1944371"/>
          </a:xfrm>
          <a:prstGeom prst="rect">
            <a:avLst/>
          </a:prstGeom>
        </p:spPr>
        <p:txBody>
          <a:bodyPr anchor="t" rtlCol="false" tIns="0" lIns="0" bIns="0" rIns="0">
            <a:spAutoFit/>
          </a:bodyPr>
          <a:lstStyle/>
          <a:p>
            <a:pPr algn="l">
              <a:lnSpc>
                <a:spcPts val="15679"/>
              </a:lnSpc>
            </a:pPr>
            <a:r>
              <a:rPr lang="en-US" sz="11199" b="true">
                <a:solidFill>
                  <a:srgbClr val="1E2E1D"/>
                </a:solidFill>
                <a:latin typeface="The Seasons Bold"/>
                <a:ea typeface="The Seasons Bold"/>
                <a:cs typeface="The Seasons Bold"/>
                <a:sym typeface="The Seasons Bold"/>
              </a:rPr>
              <a:t>Literature Survey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0" y="1795391"/>
            <a:ext cx="9310432" cy="8216262"/>
            <a:chOff x="0" y="0"/>
            <a:chExt cx="811450" cy="716088"/>
          </a:xfrm>
        </p:grpSpPr>
        <p:sp>
          <p:nvSpPr>
            <p:cNvPr name="Freeform 4" id="4"/>
            <p:cNvSpPr/>
            <p:nvPr/>
          </p:nvSpPr>
          <p:spPr>
            <a:xfrm flipH="false" flipV="false" rot="0">
              <a:off x="0" y="0"/>
              <a:ext cx="811450" cy="716088"/>
            </a:xfrm>
            <a:custGeom>
              <a:avLst/>
              <a:gdLst/>
              <a:ahLst/>
              <a:cxnLst/>
              <a:rect r="r" b="b" t="t" l="l"/>
              <a:pathLst>
                <a:path h="716088" w="811450">
                  <a:moveTo>
                    <a:pt x="60702" y="0"/>
                  </a:moveTo>
                  <a:lnTo>
                    <a:pt x="750748" y="0"/>
                  </a:lnTo>
                  <a:cubicBezTo>
                    <a:pt x="766847" y="0"/>
                    <a:pt x="782287" y="6395"/>
                    <a:pt x="793671" y="17779"/>
                  </a:cubicBezTo>
                  <a:cubicBezTo>
                    <a:pt x="805055" y="29163"/>
                    <a:pt x="811450" y="44603"/>
                    <a:pt x="811450" y="60702"/>
                  </a:cubicBezTo>
                  <a:lnTo>
                    <a:pt x="811450" y="655386"/>
                  </a:lnTo>
                  <a:cubicBezTo>
                    <a:pt x="811450" y="671485"/>
                    <a:pt x="805055" y="686925"/>
                    <a:pt x="793671" y="698309"/>
                  </a:cubicBezTo>
                  <a:cubicBezTo>
                    <a:pt x="782287" y="709692"/>
                    <a:pt x="766847" y="716088"/>
                    <a:pt x="750748" y="716088"/>
                  </a:cubicBezTo>
                  <a:lnTo>
                    <a:pt x="60702" y="716088"/>
                  </a:lnTo>
                  <a:cubicBezTo>
                    <a:pt x="27177" y="716088"/>
                    <a:pt x="0" y="688911"/>
                    <a:pt x="0" y="655386"/>
                  </a:cubicBezTo>
                  <a:lnTo>
                    <a:pt x="0" y="60702"/>
                  </a:lnTo>
                  <a:cubicBezTo>
                    <a:pt x="0" y="44603"/>
                    <a:pt x="6395" y="29163"/>
                    <a:pt x="17779" y="17779"/>
                  </a:cubicBezTo>
                  <a:cubicBezTo>
                    <a:pt x="29163" y="6395"/>
                    <a:pt x="44603" y="0"/>
                    <a:pt x="60702" y="0"/>
                  </a:cubicBezTo>
                  <a:close/>
                </a:path>
              </a:pathLst>
            </a:custGeom>
            <a:solidFill>
              <a:srgbClr val="EDDDC8"/>
            </a:solidFill>
          </p:spPr>
        </p:sp>
        <p:sp>
          <p:nvSpPr>
            <p:cNvPr name="TextBox 5" id="5"/>
            <p:cNvSpPr txBox="true"/>
            <p:nvPr/>
          </p:nvSpPr>
          <p:spPr>
            <a:xfrm>
              <a:off x="0" y="-85725"/>
              <a:ext cx="811450" cy="80181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310432" y="1795391"/>
            <a:ext cx="8977568" cy="8216262"/>
            <a:chOff x="0" y="0"/>
            <a:chExt cx="782439" cy="716088"/>
          </a:xfrm>
        </p:grpSpPr>
        <p:sp>
          <p:nvSpPr>
            <p:cNvPr name="Freeform 7" id="7"/>
            <p:cNvSpPr/>
            <p:nvPr/>
          </p:nvSpPr>
          <p:spPr>
            <a:xfrm flipH="false" flipV="false" rot="0">
              <a:off x="0" y="0"/>
              <a:ext cx="782439" cy="716088"/>
            </a:xfrm>
            <a:custGeom>
              <a:avLst/>
              <a:gdLst/>
              <a:ahLst/>
              <a:cxnLst/>
              <a:rect r="r" b="b" t="t" l="l"/>
              <a:pathLst>
                <a:path h="716088" w="782439">
                  <a:moveTo>
                    <a:pt x="62952" y="0"/>
                  </a:moveTo>
                  <a:lnTo>
                    <a:pt x="719487" y="0"/>
                  </a:lnTo>
                  <a:cubicBezTo>
                    <a:pt x="754254" y="0"/>
                    <a:pt x="782439" y="28185"/>
                    <a:pt x="782439" y="62952"/>
                  </a:cubicBezTo>
                  <a:lnTo>
                    <a:pt x="782439" y="653135"/>
                  </a:lnTo>
                  <a:cubicBezTo>
                    <a:pt x="782439" y="687903"/>
                    <a:pt x="754254" y="716088"/>
                    <a:pt x="719487" y="716088"/>
                  </a:cubicBezTo>
                  <a:lnTo>
                    <a:pt x="62952" y="716088"/>
                  </a:lnTo>
                  <a:cubicBezTo>
                    <a:pt x="28185" y="716088"/>
                    <a:pt x="0" y="687903"/>
                    <a:pt x="0" y="653135"/>
                  </a:cubicBezTo>
                  <a:lnTo>
                    <a:pt x="0" y="62952"/>
                  </a:lnTo>
                  <a:cubicBezTo>
                    <a:pt x="0" y="28185"/>
                    <a:pt x="28185" y="0"/>
                    <a:pt x="62952" y="0"/>
                  </a:cubicBezTo>
                  <a:close/>
                </a:path>
              </a:pathLst>
            </a:custGeom>
            <a:solidFill>
              <a:srgbClr val="F4DDC0"/>
            </a:solidFill>
          </p:spPr>
        </p:sp>
        <p:sp>
          <p:nvSpPr>
            <p:cNvPr name="TextBox 8" id="8"/>
            <p:cNvSpPr txBox="true"/>
            <p:nvPr/>
          </p:nvSpPr>
          <p:spPr>
            <a:xfrm>
              <a:off x="0" y="-85725"/>
              <a:ext cx="782439" cy="801813"/>
            </a:xfrm>
            <a:prstGeom prst="rect">
              <a:avLst/>
            </a:prstGeom>
          </p:spPr>
          <p:txBody>
            <a:bodyPr anchor="ctr" rtlCol="false" tIns="50800" lIns="50800" bIns="50800" rIns="50800"/>
            <a:lstStyle/>
            <a:p>
              <a:pPr algn="ctr">
                <a:lnSpc>
                  <a:spcPts val="2659"/>
                </a:lnSpc>
                <a:spcBef>
                  <a:spcPct val="0"/>
                </a:spcBef>
              </a:pPr>
            </a:p>
          </p:txBody>
        </p:sp>
      </p:grpSp>
      <p:pic>
        <p:nvPicPr>
          <p:cNvPr name="Picture 9" id="9"/>
          <p:cNvPicPr>
            <a:picLocks noChangeAspect="true"/>
          </p:cNvPicPr>
          <p:nvPr/>
        </p:nvPicPr>
        <p:blipFill>
          <a:blip r:embed="rId3"/>
          <a:stretch>
            <a:fillRect/>
          </a:stretch>
        </p:blipFill>
        <p:spPr>
          <a:xfrm rot="0">
            <a:off x="-189424" y="-189424"/>
            <a:ext cx="1529441" cy="2273088"/>
          </a:xfrm>
          <a:prstGeom prst="rect">
            <a:avLst/>
          </a:prstGeom>
        </p:spPr>
      </p:pic>
      <p:pic>
        <p:nvPicPr>
          <p:cNvPr name="Picture 10" id="10"/>
          <p:cNvPicPr>
            <a:picLocks noChangeAspect="true"/>
          </p:cNvPicPr>
          <p:nvPr/>
        </p:nvPicPr>
        <p:blipFill>
          <a:blip r:embed="rId4"/>
          <a:stretch>
            <a:fillRect/>
          </a:stretch>
        </p:blipFill>
        <p:spPr>
          <a:xfrm rot="0">
            <a:off x="16448394" y="-179539"/>
            <a:ext cx="2019145" cy="2154469"/>
          </a:xfrm>
          <a:prstGeom prst="rect">
            <a:avLst/>
          </a:prstGeom>
        </p:spPr>
      </p:pic>
      <p:sp>
        <p:nvSpPr>
          <p:cNvPr name="TextBox 11" id="11"/>
          <p:cNvSpPr txBox="true"/>
          <p:nvPr/>
        </p:nvSpPr>
        <p:spPr>
          <a:xfrm rot="0">
            <a:off x="298708" y="3004170"/>
            <a:ext cx="9011724" cy="6510655"/>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Work experience is often recorded informally or scattered across different sources.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Workers may find it difficult to provide proof of previous jobs.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Income records may be unavailable or incomplete.</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Communication between workers and clients can be affected by language differences.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Finding suitable and better-paying jobs can be challenging.</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Information about welfare schemes and eligibility requirements may be difficult to access.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Client feedback and job confirmations may not be maintained in a single record.</a:t>
            </a:r>
          </a:p>
        </p:txBody>
      </p:sp>
      <p:sp>
        <p:nvSpPr>
          <p:cNvPr name="TextBox 12" id="12"/>
          <p:cNvSpPr txBox="true"/>
          <p:nvPr/>
        </p:nvSpPr>
        <p:spPr>
          <a:xfrm rot="0">
            <a:off x="4056114" y="2235438"/>
            <a:ext cx="1496913"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FF5757"/>
                </a:solidFill>
                <a:latin typeface="Agrandir Tight Bold"/>
                <a:ea typeface="Agrandir Tight Bold"/>
                <a:cs typeface="Agrandir Tight Bold"/>
                <a:sym typeface="Agrandir Tight Bold"/>
              </a:rPr>
              <a:t>Existing</a:t>
            </a:r>
          </a:p>
        </p:txBody>
      </p:sp>
      <p:sp>
        <p:nvSpPr>
          <p:cNvPr name="TextBox 13" id="13"/>
          <p:cNvSpPr txBox="true"/>
          <p:nvPr/>
        </p:nvSpPr>
        <p:spPr>
          <a:xfrm rot="0">
            <a:off x="9522547" y="3004170"/>
            <a:ext cx="8553339" cy="7005955"/>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Create a digital profile and work-history record for each worker.</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Maintain job details, client confirmations and ratings.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Enable direct messaging between workers and clients.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Translate messages into the selected target language.</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Provide the website interface in Tamil, English and Hindi.</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Use A* search to help identify suitable job opportunities.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Apply CSP constraints to check job requirements and predefined eligibility conditions.</a:t>
            </a:r>
          </a:p>
          <a:p>
            <a:pPr algn="l" marL="604519" indent="-302260" lvl="1">
              <a:lnSpc>
                <a:spcPts val="3919"/>
              </a:lnSpc>
              <a:spcBef>
                <a:spcPct val="0"/>
              </a:spcBef>
              <a:buFont typeface="Arial"/>
              <a:buChar char="•"/>
            </a:pPr>
            <a:r>
              <a:rPr lang="en-US" b="true" sz="2799">
                <a:solidFill>
                  <a:srgbClr val="132814"/>
                </a:solidFill>
                <a:latin typeface="Agrandir Tight Bold"/>
                <a:ea typeface="Agrandir Tight Bold"/>
                <a:cs typeface="Agrandir Tight Bold"/>
                <a:sym typeface="Agrandir Tight Bold"/>
              </a:rPr>
              <a:t>Present relevant welfare-scheme information and job opportunities through one platform.</a:t>
            </a:r>
          </a:p>
        </p:txBody>
      </p:sp>
      <p:sp>
        <p:nvSpPr>
          <p:cNvPr name="TextBox 14" id="14"/>
          <p:cNvSpPr txBox="true"/>
          <p:nvPr/>
        </p:nvSpPr>
        <p:spPr>
          <a:xfrm rot="0">
            <a:off x="12883179" y="2235438"/>
            <a:ext cx="1832074"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1800AD"/>
                </a:solidFill>
                <a:latin typeface="Agrandir Tight Bold"/>
                <a:ea typeface="Agrandir Tight Bold"/>
                <a:cs typeface="Agrandir Tight Bold"/>
                <a:sym typeface="Agrandir Tight Bold"/>
              </a:rPr>
              <a:t>Proposed</a:t>
            </a:r>
          </a:p>
        </p:txBody>
      </p:sp>
      <p:sp>
        <p:nvSpPr>
          <p:cNvPr name="TextBox 15" id="15"/>
          <p:cNvSpPr txBox="true"/>
          <p:nvPr/>
        </p:nvSpPr>
        <p:spPr>
          <a:xfrm rot="0">
            <a:off x="2464792" y="-65440"/>
            <a:ext cx="13358416" cy="1959680"/>
          </a:xfrm>
          <a:prstGeom prst="rect">
            <a:avLst/>
          </a:prstGeom>
        </p:spPr>
        <p:txBody>
          <a:bodyPr anchor="t" rtlCol="false" tIns="0" lIns="0" bIns="0" rIns="0">
            <a:spAutoFit/>
          </a:bodyPr>
          <a:lstStyle/>
          <a:p>
            <a:pPr algn="ctr">
              <a:lnSpc>
                <a:spcPts val="15711"/>
              </a:lnSpc>
              <a:spcBef>
                <a:spcPct val="0"/>
              </a:spcBef>
            </a:pPr>
            <a:r>
              <a:rPr lang="en-US" b="true" sz="11222">
                <a:solidFill>
                  <a:srgbClr val="132814"/>
                </a:solidFill>
                <a:latin typeface="The Seasons Bold"/>
                <a:ea typeface="The Seasons Bold"/>
                <a:cs typeface="The Seasons Bold"/>
                <a:sym typeface="The Seasons Bold"/>
              </a:rPr>
              <a:t>Existing VS Proposed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0">
            <a:off x="1144269" y="2374391"/>
            <a:ext cx="4860487" cy="2989200"/>
          </a:xfrm>
          <a:custGeom>
            <a:avLst/>
            <a:gdLst/>
            <a:ahLst/>
            <a:cxnLst/>
            <a:rect r="r" b="b" t="t" l="l"/>
            <a:pathLst>
              <a:path h="2989200" w="4860487">
                <a:moveTo>
                  <a:pt x="0" y="0"/>
                </a:moveTo>
                <a:lnTo>
                  <a:pt x="4860487" y="0"/>
                </a:lnTo>
                <a:lnTo>
                  <a:pt x="4860487" y="2989200"/>
                </a:lnTo>
                <a:lnTo>
                  <a:pt x="0" y="2989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609281" y="2374391"/>
            <a:ext cx="4973781" cy="3058875"/>
          </a:xfrm>
          <a:custGeom>
            <a:avLst/>
            <a:gdLst/>
            <a:ahLst/>
            <a:cxnLst/>
            <a:rect r="r" b="b" t="t" l="l"/>
            <a:pathLst>
              <a:path h="3058875" w="4973781">
                <a:moveTo>
                  <a:pt x="0" y="0"/>
                </a:moveTo>
                <a:lnTo>
                  <a:pt x="4973781" y="0"/>
                </a:lnTo>
                <a:lnTo>
                  <a:pt x="4973781" y="3058876"/>
                </a:lnTo>
                <a:lnTo>
                  <a:pt x="0" y="30588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074292" y="2374391"/>
            <a:ext cx="4973781" cy="3058875"/>
          </a:xfrm>
          <a:custGeom>
            <a:avLst/>
            <a:gdLst/>
            <a:ahLst/>
            <a:cxnLst/>
            <a:rect r="r" b="b" t="t" l="l"/>
            <a:pathLst>
              <a:path h="3058875" w="4973781">
                <a:moveTo>
                  <a:pt x="0" y="0"/>
                </a:moveTo>
                <a:lnTo>
                  <a:pt x="4973782" y="0"/>
                </a:lnTo>
                <a:lnTo>
                  <a:pt x="4973782" y="3058876"/>
                </a:lnTo>
                <a:lnTo>
                  <a:pt x="0" y="30588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50985" y="5747592"/>
            <a:ext cx="7120357" cy="4379020"/>
          </a:xfrm>
          <a:custGeom>
            <a:avLst/>
            <a:gdLst/>
            <a:ahLst/>
            <a:cxnLst/>
            <a:rect r="r" b="b" t="t" l="l"/>
            <a:pathLst>
              <a:path h="4379020" w="7120357">
                <a:moveTo>
                  <a:pt x="0" y="0"/>
                </a:moveTo>
                <a:lnTo>
                  <a:pt x="7120356" y="0"/>
                </a:lnTo>
                <a:lnTo>
                  <a:pt x="7120356" y="4379019"/>
                </a:lnTo>
                <a:lnTo>
                  <a:pt x="0" y="43790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639515" y="5814267"/>
            <a:ext cx="7272737" cy="4472733"/>
          </a:xfrm>
          <a:custGeom>
            <a:avLst/>
            <a:gdLst/>
            <a:ahLst/>
            <a:cxnLst/>
            <a:rect r="r" b="b" t="t" l="l"/>
            <a:pathLst>
              <a:path h="4472733" w="7272737">
                <a:moveTo>
                  <a:pt x="0" y="0"/>
                </a:moveTo>
                <a:lnTo>
                  <a:pt x="7272737" y="0"/>
                </a:lnTo>
                <a:lnTo>
                  <a:pt x="7272737" y="4472733"/>
                </a:lnTo>
                <a:lnTo>
                  <a:pt x="0" y="44727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8" id="8"/>
          <p:cNvPicPr>
            <a:picLocks noChangeAspect="true"/>
          </p:cNvPicPr>
          <p:nvPr/>
        </p:nvPicPr>
        <p:blipFill>
          <a:blip r:embed="rId5"/>
          <a:stretch>
            <a:fillRect/>
          </a:stretch>
        </p:blipFill>
        <p:spPr>
          <a:xfrm rot="0">
            <a:off x="847385" y="7278553"/>
            <a:ext cx="2175785" cy="1701666"/>
          </a:xfrm>
          <a:prstGeom prst="rect">
            <a:avLst/>
          </a:prstGeom>
        </p:spPr>
      </p:pic>
      <p:sp>
        <p:nvSpPr>
          <p:cNvPr name="Freeform 9" id="9"/>
          <p:cNvSpPr/>
          <p:nvPr/>
        </p:nvSpPr>
        <p:spPr>
          <a:xfrm flipH="false" flipV="false" rot="0">
            <a:off x="10780702" y="7178503"/>
            <a:ext cx="1604720" cy="1744261"/>
          </a:xfrm>
          <a:custGeom>
            <a:avLst/>
            <a:gdLst/>
            <a:ahLst/>
            <a:cxnLst/>
            <a:rect r="r" b="b" t="t" l="l"/>
            <a:pathLst>
              <a:path h="1744261" w="1604720">
                <a:moveTo>
                  <a:pt x="0" y="0"/>
                </a:moveTo>
                <a:lnTo>
                  <a:pt x="1604720" y="0"/>
                </a:lnTo>
                <a:lnTo>
                  <a:pt x="1604720" y="1744261"/>
                </a:lnTo>
                <a:lnTo>
                  <a:pt x="0" y="1744261"/>
                </a:lnTo>
                <a:lnTo>
                  <a:pt x="0" y="0"/>
                </a:lnTo>
                <a:close/>
              </a:path>
            </a:pathLst>
          </a:custGeom>
          <a:blipFill>
            <a:blip r:embed="rId6"/>
            <a:stretch>
              <a:fillRect l="0" t="0" r="0" b="0"/>
            </a:stretch>
          </a:blipFill>
        </p:spPr>
      </p:sp>
      <p:sp>
        <p:nvSpPr>
          <p:cNvPr name="Freeform 10" id="10"/>
          <p:cNvSpPr/>
          <p:nvPr/>
        </p:nvSpPr>
        <p:spPr>
          <a:xfrm flipH="false" flipV="false" rot="0">
            <a:off x="688341" y="278248"/>
            <a:ext cx="1914540" cy="1914540"/>
          </a:xfrm>
          <a:custGeom>
            <a:avLst/>
            <a:gdLst/>
            <a:ahLst/>
            <a:cxnLst/>
            <a:rect r="r" b="b" t="t" l="l"/>
            <a:pathLst>
              <a:path h="1914540" w="1914540">
                <a:moveTo>
                  <a:pt x="0" y="0"/>
                </a:moveTo>
                <a:lnTo>
                  <a:pt x="1914540" y="0"/>
                </a:lnTo>
                <a:lnTo>
                  <a:pt x="1914540" y="1914541"/>
                </a:lnTo>
                <a:lnTo>
                  <a:pt x="0" y="1914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5714878" y="169831"/>
            <a:ext cx="1982498" cy="2022958"/>
          </a:xfrm>
          <a:custGeom>
            <a:avLst/>
            <a:gdLst/>
            <a:ahLst/>
            <a:cxnLst/>
            <a:rect r="r" b="b" t="t" l="l"/>
            <a:pathLst>
              <a:path h="2022958" w="1982498">
                <a:moveTo>
                  <a:pt x="0" y="0"/>
                </a:moveTo>
                <a:lnTo>
                  <a:pt x="1982498" y="0"/>
                </a:lnTo>
                <a:lnTo>
                  <a:pt x="1982498" y="2022958"/>
                </a:lnTo>
                <a:lnTo>
                  <a:pt x="0" y="20229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942364" y="2807605"/>
            <a:ext cx="3264297" cy="6235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Agrandir Tight Bold"/>
                <a:ea typeface="Agrandir Tight Bold"/>
                <a:cs typeface="Agrandir Tight Bold"/>
                <a:sym typeface="Agrandir Tight Bold"/>
              </a:rPr>
              <a:t>1. Existing Situation</a:t>
            </a:r>
          </a:p>
        </p:txBody>
      </p:sp>
      <p:sp>
        <p:nvSpPr>
          <p:cNvPr name="TextBox 13" id="13"/>
          <p:cNvSpPr txBox="true"/>
          <p:nvPr/>
        </p:nvSpPr>
        <p:spPr>
          <a:xfrm rot="0">
            <a:off x="1287016" y="3645059"/>
            <a:ext cx="4574993" cy="15373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Agrandir Tight Bold"/>
                <a:ea typeface="Agrandir Tight Bold"/>
                <a:cs typeface="Agrandir Tight Bold"/>
                <a:sym typeface="Agrandir Tight Bold"/>
              </a:rPr>
              <a:t>Informal workers may lack a consolidated digital record of their employment history, experience and client feedback.</a:t>
            </a:r>
          </a:p>
        </p:txBody>
      </p:sp>
      <p:sp>
        <p:nvSpPr>
          <p:cNvPr name="TextBox 14" id="14"/>
          <p:cNvSpPr txBox="true"/>
          <p:nvPr/>
        </p:nvSpPr>
        <p:spPr>
          <a:xfrm rot="0">
            <a:off x="6935789" y="2807605"/>
            <a:ext cx="4207471" cy="6235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Agrandir Tight Bold"/>
                <a:ea typeface="Agrandir Tight Bold"/>
                <a:cs typeface="Agrandir Tight Bold"/>
                <a:sym typeface="Agrandir Tight Bold"/>
              </a:rPr>
              <a:t>2. Identified Opportunity</a:t>
            </a:r>
          </a:p>
        </p:txBody>
      </p:sp>
      <p:sp>
        <p:nvSpPr>
          <p:cNvPr name="TextBox 15" id="15"/>
          <p:cNvSpPr txBox="true"/>
          <p:nvPr/>
        </p:nvSpPr>
        <p:spPr>
          <a:xfrm rot="0">
            <a:off x="6920561" y="3645059"/>
            <a:ext cx="4446877" cy="15373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Agrandir Tight Bold"/>
                <a:ea typeface="Agrandir Tight Bold"/>
                <a:cs typeface="Agrandir Tight Bold"/>
                <a:sym typeface="Agrandir Tight Bold"/>
              </a:rPr>
              <a:t>A unified platform can connect work-history documentation, client communication, multilingual messaging and job discovery.</a:t>
            </a:r>
          </a:p>
        </p:txBody>
      </p:sp>
      <p:sp>
        <p:nvSpPr>
          <p:cNvPr name="TextBox 16" id="16"/>
          <p:cNvSpPr txBox="true"/>
          <p:nvPr/>
        </p:nvSpPr>
        <p:spPr>
          <a:xfrm rot="0">
            <a:off x="12074292" y="2741565"/>
            <a:ext cx="4973781" cy="6235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Agrandir Tight Bold"/>
                <a:ea typeface="Agrandir Tight Bold"/>
                <a:cs typeface="Agrandir Tight Bold"/>
                <a:sym typeface="Agrandir Tight Bold"/>
              </a:rPr>
              <a:t>3. Problem Formulation</a:t>
            </a:r>
          </a:p>
        </p:txBody>
      </p:sp>
      <p:sp>
        <p:nvSpPr>
          <p:cNvPr name="TextBox 17" id="17"/>
          <p:cNvSpPr txBox="true"/>
          <p:nvPr/>
        </p:nvSpPr>
        <p:spPr>
          <a:xfrm rot="0">
            <a:off x="12074292" y="3606165"/>
            <a:ext cx="4973781" cy="15373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Agrandir Tight Bold"/>
                <a:ea typeface="Agrandir Tight Bold"/>
                <a:cs typeface="Agrandir Tight Bold"/>
                <a:sym typeface="Agrandir Tight Bold"/>
              </a:rPr>
              <a:t>The system must organize worker and job information and identify suitable matches while satisfying requirements such as skills, location, availability and job conditions.</a:t>
            </a:r>
          </a:p>
        </p:txBody>
      </p:sp>
      <p:sp>
        <p:nvSpPr>
          <p:cNvPr name="TextBox 18" id="18"/>
          <p:cNvSpPr txBox="true"/>
          <p:nvPr/>
        </p:nvSpPr>
        <p:spPr>
          <a:xfrm rot="0">
            <a:off x="1645611" y="6157259"/>
            <a:ext cx="4860487" cy="6235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Agrandir Tight Bold"/>
                <a:ea typeface="Agrandir Tight Bold"/>
                <a:cs typeface="Agrandir Tight Bold"/>
                <a:sym typeface="Agrandir Tight Bold"/>
              </a:rPr>
              <a:t>4. Language Accessibility</a:t>
            </a:r>
          </a:p>
        </p:txBody>
      </p:sp>
      <p:sp>
        <p:nvSpPr>
          <p:cNvPr name="TextBox 19" id="19"/>
          <p:cNvSpPr txBox="true"/>
          <p:nvPr/>
        </p:nvSpPr>
        <p:spPr>
          <a:xfrm rot="0">
            <a:off x="2841854" y="6990379"/>
            <a:ext cx="4419171" cy="2173237"/>
          </a:xfrm>
          <a:prstGeom prst="rect">
            <a:avLst/>
          </a:prstGeom>
        </p:spPr>
        <p:txBody>
          <a:bodyPr anchor="t" rtlCol="false" tIns="0" lIns="0" bIns="0" rIns="0">
            <a:spAutoFit/>
          </a:bodyPr>
          <a:lstStyle/>
          <a:p>
            <a:pPr algn="ctr">
              <a:lnSpc>
                <a:spcPts val="3370"/>
              </a:lnSpc>
              <a:spcBef>
                <a:spcPct val="0"/>
              </a:spcBef>
            </a:pPr>
            <a:r>
              <a:rPr lang="en-US" b="true" sz="2407">
                <a:solidFill>
                  <a:srgbClr val="000000"/>
                </a:solidFill>
                <a:latin typeface="Agrandir Tight Bold"/>
                <a:ea typeface="Agrandir Tight Bold"/>
                <a:cs typeface="Agrandir Tight Bold"/>
                <a:sym typeface="Agrandir Tight Bold"/>
              </a:rPr>
              <a:t>Workers and clients may prefer different languages. Message translation and a multilingual interface can make communication more accessible.</a:t>
            </a:r>
          </a:p>
        </p:txBody>
      </p:sp>
      <p:sp>
        <p:nvSpPr>
          <p:cNvPr name="TextBox 20" id="20"/>
          <p:cNvSpPr txBox="true"/>
          <p:nvPr/>
        </p:nvSpPr>
        <p:spPr>
          <a:xfrm rot="0">
            <a:off x="11845640" y="6157259"/>
            <a:ext cx="4860487" cy="6235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Agrandir Tight Bold"/>
                <a:ea typeface="Agrandir Tight Bold"/>
                <a:cs typeface="Agrandir Tight Bold"/>
                <a:sym typeface="Agrandir Tight Bold"/>
              </a:rPr>
              <a:t>5. Proposed AI Approach</a:t>
            </a:r>
          </a:p>
        </p:txBody>
      </p:sp>
      <p:sp>
        <p:nvSpPr>
          <p:cNvPr name="TextBox 21" id="21"/>
          <p:cNvSpPr txBox="true"/>
          <p:nvPr/>
        </p:nvSpPr>
        <p:spPr>
          <a:xfrm rot="0">
            <a:off x="12074292" y="7064203"/>
            <a:ext cx="5526830" cy="2531711"/>
          </a:xfrm>
          <a:prstGeom prst="rect">
            <a:avLst/>
          </a:prstGeom>
        </p:spPr>
        <p:txBody>
          <a:bodyPr anchor="t" rtlCol="false" tIns="0" lIns="0" bIns="0" rIns="0">
            <a:spAutoFit/>
          </a:bodyPr>
          <a:lstStyle/>
          <a:p>
            <a:pPr algn="ctr">
              <a:lnSpc>
                <a:spcPts val="3266"/>
              </a:lnSpc>
              <a:spcBef>
                <a:spcPct val="0"/>
              </a:spcBef>
            </a:pPr>
            <a:r>
              <a:rPr lang="en-US" b="true" sz="2333">
                <a:solidFill>
                  <a:srgbClr val="000000"/>
                </a:solidFill>
                <a:latin typeface="Agrandir Tight Bold"/>
                <a:ea typeface="Agrandir Tight Bold"/>
                <a:cs typeface="Agrandir Tight Bold"/>
                <a:sym typeface="Agrandir Tight Bold"/>
              </a:rPr>
              <a:t>Algorithm: A* finds suitable job matches, while CSP checks job constraints.</a:t>
            </a:r>
          </a:p>
          <a:p>
            <a:pPr algn="ctr">
              <a:lnSpc>
                <a:spcPts val="3266"/>
              </a:lnSpc>
              <a:spcBef>
                <a:spcPct val="0"/>
              </a:spcBef>
            </a:pPr>
            <a:r>
              <a:rPr lang="en-US" b="true" sz="2333">
                <a:solidFill>
                  <a:srgbClr val="000000"/>
                </a:solidFill>
                <a:latin typeface="Agrandir Tight Bold"/>
                <a:ea typeface="Agrandir Tight Bold"/>
                <a:cs typeface="Agrandir Tight Bold"/>
                <a:sym typeface="Agrandir Tight Bold"/>
              </a:rPr>
              <a:t>Research Gap: An accessible platform combining digital work records, multilingual communication, and AI-based job matching for informal workers.</a:t>
            </a:r>
          </a:p>
        </p:txBody>
      </p:sp>
      <p:sp>
        <p:nvSpPr>
          <p:cNvPr name="TextBox 22" id="22"/>
          <p:cNvSpPr txBox="true"/>
          <p:nvPr/>
        </p:nvSpPr>
        <p:spPr>
          <a:xfrm rot="0">
            <a:off x="5051440" y="153796"/>
            <a:ext cx="8841284" cy="1944371"/>
          </a:xfrm>
          <a:prstGeom prst="rect">
            <a:avLst/>
          </a:prstGeom>
        </p:spPr>
        <p:txBody>
          <a:bodyPr anchor="t" rtlCol="false" tIns="0" lIns="0" bIns="0" rIns="0">
            <a:spAutoFit/>
          </a:bodyPr>
          <a:lstStyle/>
          <a:p>
            <a:pPr algn="ctr">
              <a:lnSpc>
                <a:spcPts val="15679"/>
              </a:lnSpc>
              <a:spcBef>
                <a:spcPct val="0"/>
              </a:spcBef>
            </a:pPr>
            <a:r>
              <a:rPr lang="en-US" b="true" sz="11199">
                <a:solidFill>
                  <a:srgbClr val="000000"/>
                </a:solidFill>
                <a:latin typeface="The Seasons Bold"/>
                <a:ea typeface="The Seasons Bold"/>
                <a:cs typeface="The Seasons Bold"/>
                <a:sym typeface="The Seasons Bold"/>
              </a:rPr>
              <a:t>Research Gap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706692" y="2542516"/>
            <a:ext cx="16993559" cy="7062075"/>
            <a:chOff x="0" y="0"/>
            <a:chExt cx="1481072" cy="615495"/>
          </a:xfrm>
        </p:grpSpPr>
        <p:sp>
          <p:nvSpPr>
            <p:cNvPr name="Freeform 4" id="4"/>
            <p:cNvSpPr/>
            <p:nvPr/>
          </p:nvSpPr>
          <p:spPr>
            <a:xfrm flipH="false" flipV="false" rot="0">
              <a:off x="0" y="0"/>
              <a:ext cx="1481072" cy="615495"/>
            </a:xfrm>
            <a:custGeom>
              <a:avLst/>
              <a:gdLst/>
              <a:ahLst/>
              <a:cxnLst/>
              <a:rect r="r" b="b" t="t" l="l"/>
              <a:pathLst>
                <a:path h="615495" w="1481072">
                  <a:moveTo>
                    <a:pt x="0" y="0"/>
                  </a:moveTo>
                  <a:lnTo>
                    <a:pt x="1481072" y="0"/>
                  </a:lnTo>
                  <a:lnTo>
                    <a:pt x="1481072" y="615495"/>
                  </a:lnTo>
                  <a:lnTo>
                    <a:pt x="0" y="615495"/>
                  </a:lnTo>
                  <a:close/>
                </a:path>
              </a:pathLst>
            </a:custGeom>
            <a:solidFill>
              <a:srgbClr val="F4DDC0"/>
            </a:solidFill>
          </p:spPr>
        </p:sp>
        <p:sp>
          <p:nvSpPr>
            <p:cNvPr name="TextBox 5" id="5"/>
            <p:cNvSpPr txBox="true"/>
            <p:nvPr/>
          </p:nvSpPr>
          <p:spPr>
            <a:xfrm>
              <a:off x="0" y="-38100"/>
              <a:ext cx="1481072" cy="65359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384420" y="134355"/>
            <a:ext cx="2368741" cy="2560802"/>
          </a:xfrm>
          <a:custGeom>
            <a:avLst/>
            <a:gdLst/>
            <a:ahLst/>
            <a:cxnLst/>
            <a:rect r="r" b="b" t="t" l="l"/>
            <a:pathLst>
              <a:path h="2560802" w="2368741">
                <a:moveTo>
                  <a:pt x="0" y="0"/>
                </a:moveTo>
                <a:lnTo>
                  <a:pt x="2368741" y="0"/>
                </a:lnTo>
                <a:lnTo>
                  <a:pt x="2368741" y="2560801"/>
                </a:lnTo>
                <a:lnTo>
                  <a:pt x="0" y="25608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969425" y="134355"/>
            <a:ext cx="1730827" cy="2277403"/>
          </a:xfrm>
          <a:custGeom>
            <a:avLst/>
            <a:gdLst/>
            <a:ahLst/>
            <a:cxnLst/>
            <a:rect r="r" b="b" t="t" l="l"/>
            <a:pathLst>
              <a:path h="2277403" w="1730827">
                <a:moveTo>
                  <a:pt x="0" y="0"/>
                </a:moveTo>
                <a:lnTo>
                  <a:pt x="1730826" y="0"/>
                </a:lnTo>
                <a:lnTo>
                  <a:pt x="1730826" y="2277403"/>
                </a:lnTo>
                <a:lnTo>
                  <a:pt x="0" y="22774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2799296"/>
            <a:ext cx="17259300" cy="6805295"/>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Develop a digital platform for informal workers to create profiles and maintain work-history records.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Record completed jobs, client confirmations, ratings and available income details.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Enable messaging between workers and clients.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Translate messages between supported languages to reduce communication barriers.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Provide the website interface in Tamil, English and Hindi.</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Apply the A* search algorithm to identify and prioritize suitable job opportunities.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Use CSP-based constraint checking for job requirements and predefined eligibility rules.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Help workers discover relevant employment opportunities and information about government welfare schemes.</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Maintain structured records using an SQLite database.</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Design a simple, accessible web application using React.js and FastAPI.</a:t>
            </a:r>
          </a:p>
        </p:txBody>
      </p:sp>
      <p:sp>
        <p:nvSpPr>
          <p:cNvPr name="TextBox 9" id="9"/>
          <p:cNvSpPr txBox="true"/>
          <p:nvPr/>
        </p:nvSpPr>
        <p:spPr>
          <a:xfrm rot="0">
            <a:off x="2753161" y="333033"/>
            <a:ext cx="12900621" cy="1944371"/>
          </a:xfrm>
          <a:prstGeom prst="rect">
            <a:avLst/>
          </a:prstGeom>
        </p:spPr>
        <p:txBody>
          <a:bodyPr anchor="t" rtlCol="false" tIns="0" lIns="0" bIns="0" rIns="0">
            <a:spAutoFit/>
          </a:bodyPr>
          <a:lstStyle/>
          <a:p>
            <a:pPr algn="ctr">
              <a:lnSpc>
                <a:spcPts val="15679"/>
              </a:lnSpc>
              <a:spcBef>
                <a:spcPct val="0"/>
              </a:spcBef>
            </a:pPr>
            <a:r>
              <a:rPr lang="en-US" b="true" sz="11199">
                <a:solidFill>
                  <a:srgbClr val="1E2E1D"/>
                </a:solidFill>
                <a:latin typeface="The Seasons Bold"/>
                <a:ea typeface="The Seasons Bold"/>
                <a:cs typeface="The Seasons Bold"/>
                <a:sym typeface="The Seasons Bold"/>
              </a:rPr>
              <a:t>Research Objectives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0">
            <a:off x="4106355" y="3049143"/>
            <a:ext cx="10075289" cy="6741645"/>
          </a:xfrm>
          <a:custGeom>
            <a:avLst/>
            <a:gdLst/>
            <a:ahLst/>
            <a:cxnLst/>
            <a:rect r="r" b="b" t="t" l="l"/>
            <a:pathLst>
              <a:path h="6741645" w="10075289">
                <a:moveTo>
                  <a:pt x="0" y="0"/>
                </a:moveTo>
                <a:lnTo>
                  <a:pt x="10075290" y="0"/>
                </a:lnTo>
                <a:lnTo>
                  <a:pt x="10075290" y="6741645"/>
                </a:lnTo>
                <a:lnTo>
                  <a:pt x="0" y="6741645"/>
                </a:lnTo>
                <a:lnTo>
                  <a:pt x="0" y="0"/>
                </a:lnTo>
                <a:close/>
              </a:path>
            </a:pathLst>
          </a:custGeom>
          <a:blipFill>
            <a:blip r:embed="rId3"/>
            <a:stretch>
              <a:fillRect l="-184" t="0" r="-184" b="0"/>
            </a:stretch>
          </a:blipFill>
        </p:spPr>
      </p:sp>
      <p:sp>
        <p:nvSpPr>
          <p:cNvPr name="TextBox 4" id="4"/>
          <p:cNvSpPr txBox="true"/>
          <p:nvPr/>
        </p:nvSpPr>
        <p:spPr>
          <a:xfrm rot="0">
            <a:off x="2251323" y="809625"/>
            <a:ext cx="13785354" cy="1944371"/>
          </a:xfrm>
          <a:prstGeom prst="rect">
            <a:avLst/>
          </a:prstGeom>
        </p:spPr>
        <p:txBody>
          <a:bodyPr anchor="t" rtlCol="false" tIns="0" lIns="0" bIns="0" rIns="0">
            <a:spAutoFit/>
          </a:bodyPr>
          <a:lstStyle/>
          <a:p>
            <a:pPr algn="ctr">
              <a:lnSpc>
                <a:spcPts val="15679"/>
              </a:lnSpc>
              <a:spcBef>
                <a:spcPct val="0"/>
              </a:spcBef>
            </a:pPr>
            <a:r>
              <a:rPr lang="en-US" b="true" sz="11199">
                <a:solidFill>
                  <a:srgbClr val="000000"/>
                </a:solidFill>
                <a:latin typeface="The Seasons Bold"/>
                <a:ea typeface="The Seasons Bold"/>
                <a:cs typeface="The Seasons Bold"/>
                <a:sym typeface="The Seasons Bold"/>
              </a:rPr>
              <a:t>Architecture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812651" y="1695427"/>
            <a:ext cx="17015386" cy="8591573"/>
            <a:chOff x="0" y="0"/>
            <a:chExt cx="1482975" cy="748798"/>
          </a:xfrm>
        </p:grpSpPr>
        <p:sp>
          <p:nvSpPr>
            <p:cNvPr name="Freeform 4" id="4"/>
            <p:cNvSpPr/>
            <p:nvPr/>
          </p:nvSpPr>
          <p:spPr>
            <a:xfrm flipH="false" flipV="false" rot="0">
              <a:off x="0" y="0"/>
              <a:ext cx="1482975" cy="748798"/>
            </a:xfrm>
            <a:custGeom>
              <a:avLst/>
              <a:gdLst/>
              <a:ahLst/>
              <a:cxnLst/>
              <a:rect r="r" b="b" t="t" l="l"/>
              <a:pathLst>
                <a:path h="748798" w="1482975">
                  <a:moveTo>
                    <a:pt x="0" y="0"/>
                  </a:moveTo>
                  <a:lnTo>
                    <a:pt x="1482975" y="0"/>
                  </a:lnTo>
                  <a:lnTo>
                    <a:pt x="1482975" y="748798"/>
                  </a:lnTo>
                  <a:lnTo>
                    <a:pt x="0" y="748798"/>
                  </a:lnTo>
                  <a:close/>
                </a:path>
              </a:pathLst>
            </a:custGeom>
            <a:solidFill>
              <a:srgbClr val="F4DDC0"/>
            </a:solidFill>
          </p:spPr>
        </p:sp>
        <p:sp>
          <p:nvSpPr>
            <p:cNvPr name="TextBox 5" id="5"/>
            <p:cNvSpPr txBox="true"/>
            <p:nvPr/>
          </p:nvSpPr>
          <p:spPr>
            <a:xfrm>
              <a:off x="0" y="-142875"/>
              <a:ext cx="1482975" cy="891673"/>
            </a:xfrm>
            <a:prstGeom prst="rect">
              <a:avLst/>
            </a:prstGeom>
          </p:spPr>
          <p:txBody>
            <a:bodyPr anchor="ctr" rtlCol="false" tIns="50800" lIns="50800" bIns="50800" rIns="50800"/>
            <a:lstStyle/>
            <a:p>
              <a:pPr algn="l">
                <a:lnSpc>
                  <a:spcPts val="3919"/>
                </a:lnSpc>
                <a:spcBef>
                  <a:spcPct val="0"/>
                </a:spcBef>
              </a:pPr>
            </a:p>
          </p:txBody>
        </p:sp>
      </p:grpSp>
      <p:sp>
        <p:nvSpPr>
          <p:cNvPr name="TextBox 6" id="6"/>
          <p:cNvSpPr txBox="true"/>
          <p:nvPr/>
        </p:nvSpPr>
        <p:spPr>
          <a:xfrm rot="0">
            <a:off x="3771648" y="15590"/>
            <a:ext cx="10744704" cy="2810485"/>
          </a:xfrm>
          <a:prstGeom prst="rect">
            <a:avLst/>
          </a:prstGeom>
        </p:spPr>
        <p:txBody>
          <a:bodyPr anchor="t" rtlCol="false" tIns="0" lIns="0" bIns="0" rIns="0">
            <a:spAutoFit/>
          </a:bodyPr>
          <a:lstStyle/>
          <a:p>
            <a:pPr algn="ctr">
              <a:lnSpc>
                <a:spcPts val="15679"/>
              </a:lnSpc>
            </a:pPr>
            <a:r>
              <a:rPr lang="en-US" sz="11199" b="true">
                <a:solidFill>
                  <a:srgbClr val="1E2E1D"/>
                </a:solidFill>
                <a:latin typeface="The Seasons Bold"/>
                <a:ea typeface="The Seasons Bold"/>
                <a:cs typeface="The Seasons Bold"/>
                <a:sym typeface="The Seasons Bold"/>
              </a:rPr>
              <a:t>Algorithms</a:t>
            </a:r>
          </a:p>
          <a:p>
            <a:pPr algn="ctr">
              <a:lnSpc>
                <a:spcPts val="6302"/>
              </a:lnSpc>
            </a:pPr>
          </a:p>
        </p:txBody>
      </p:sp>
      <p:sp>
        <p:nvSpPr>
          <p:cNvPr name="Freeform 7" id="7"/>
          <p:cNvSpPr/>
          <p:nvPr/>
        </p:nvSpPr>
        <p:spPr>
          <a:xfrm flipH="false" flipV="false" rot="0">
            <a:off x="3212511" y="143097"/>
            <a:ext cx="1488721" cy="1466390"/>
          </a:xfrm>
          <a:custGeom>
            <a:avLst/>
            <a:gdLst/>
            <a:ahLst/>
            <a:cxnLst/>
            <a:rect r="r" b="b" t="t" l="l"/>
            <a:pathLst>
              <a:path h="1466390" w="1488721">
                <a:moveTo>
                  <a:pt x="0" y="0"/>
                </a:moveTo>
                <a:lnTo>
                  <a:pt x="1488722" y="0"/>
                </a:lnTo>
                <a:lnTo>
                  <a:pt x="1488722" y="1466391"/>
                </a:lnTo>
                <a:lnTo>
                  <a:pt x="0" y="1466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4073833" y="57157"/>
            <a:ext cx="1638270" cy="1638270"/>
          </a:xfrm>
          <a:custGeom>
            <a:avLst/>
            <a:gdLst/>
            <a:ahLst/>
            <a:cxnLst/>
            <a:rect r="r" b="b" t="t" l="l"/>
            <a:pathLst>
              <a:path h="1638270" w="1638270">
                <a:moveTo>
                  <a:pt x="0" y="0"/>
                </a:moveTo>
                <a:lnTo>
                  <a:pt x="1638270" y="0"/>
                </a:lnTo>
                <a:lnTo>
                  <a:pt x="1638270" y="1638270"/>
                </a:lnTo>
                <a:lnTo>
                  <a:pt x="0" y="16382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812651" y="2394747"/>
            <a:ext cx="13680281" cy="3995420"/>
          </a:xfrm>
          <a:prstGeom prst="rect">
            <a:avLst/>
          </a:prstGeom>
        </p:spPr>
        <p:txBody>
          <a:bodyPr anchor="t" rtlCol="false" tIns="0" lIns="0" bIns="0" rIns="0">
            <a:spAutoFit/>
          </a:bodyPr>
          <a:lstStyle/>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Problem: Finding and prioritizing suitable job opportunities for a worker.</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A* is a search algorithm that evaluates possible paths or states using the function:</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f(n) = g(n) + h(n)</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g(n): Cost accumulated so far.</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h(n): Estimated remaining cost to reach the goal.</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f(n): Combined cost used to prioritize which state to explore.</a:t>
            </a:r>
          </a:p>
          <a:p>
            <a:pPr algn="l">
              <a:lnSpc>
                <a:spcPts val="4480"/>
              </a:lnSpc>
              <a:spcBef>
                <a:spcPct val="0"/>
              </a:spcBef>
            </a:pPr>
          </a:p>
        </p:txBody>
      </p:sp>
      <p:sp>
        <p:nvSpPr>
          <p:cNvPr name="TextBox 10" id="10"/>
          <p:cNvSpPr txBox="true"/>
          <p:nvPr/>
        </p:nvSpPr>
        <p:spPr>
          <a:xfrm rot="0">
            <a:off x="812651" y="1774515"/>
            <a:ext cx="3888581" cy="708660"/>
          </a:xfrm>
          <a:prstGeom prst="rect">
            <a:avLst/>
          </a:prstGeom>
        </p:spPr>
        <p:txBody>
          <a:bodyPr anchor="t" rtlCol="false" tIns="0" lIns="0" bIns="0" rIns="0">
            <a:spAutoFit/>
          </a:bodyPr>
          <a:lstStyle/>
          <a:p>
            <a:pPr algn="ctr">
              <a:lnSpc>
                <a:spcPts val="5040"/>
              </a:lnSpc>
              <a:spcBef>
                <a:spcPct val="0"/>
              </a:spcBef>
            </a:pPr>
            <a:r>
              <a:rPr lang="en-US" b="true" sz="3600" u="sng">
                <a:solidFill>
                  <a:srgbClr val="1E2E1D"/>
                </a:solidFill>
                <a:latin typeface="Agrandir Tight Bold"/>
                <a:ea typeface="Agrandir Tight Bold"/>
                <a:cs typeface="Agrandir Tight Bold"/>
                <a:sym typeface="Agrandir Tight Bold"/>
              </a:rPr>
              <a:t>A* Search Algorithm</a:t>
            </a:r>
          </a:p>
        </p:txBody>
      </p:sp>
      <p:sp>
        <p:nvSpPr>
          <p:cNvPr name="TextBox 11" id="11"/>
          <p:cNvSpPr txBox="true"/>
          <p:nvPr/>
        </p:nvSpPr>
        <p:spPr>
          <a:xfrm rot="0">
            <a:off x="812651" y="5829289"/>
            <a:ext cx="16446649" cy="2399665"/>
          </a:xfrm>
          <a:prstGeom prst="rect">
            <a:avLst/>
          </a:prstGeom>
        </p:spPr>
        <p:txBody>
          <a:bodyPr anchor="t" rtlCol="false" tIns="0" lIns="0" bIns="0" rIns="0">
            <a:spAutoFit/>
          </a:bodyPr>
          <a:lstStyle/>
          <a:p>
            <a:pPr algn="just">
              <a:lnSpc>
                <a:spcPts val="5040"/>
              </a:lnSpc>
              <a:spcBef>
                <a:spcPct val="0"/>
              </a:spcBef>
            </a:pPr>
            <a:r>
              <a:rPr lang="en-US" b="true" sz="3600" u="sng">
                <a:solidFill>
                  <a:srgbClr val="1E2E1D"/>
                </a:solidFill>
                <a:latin typeface="Agrandir Tight Bold"/>
                <a:ea typeface="Agrandir Tight Bold"/>
                <a:cs typeface="Agrandir Tight Bold"/>
                <a:sym typeface="Agrandir Tight Bold"/>
              </a:rPr>
              <a:t>CSP Algorithm</a:t>
            </a:r>
          </a:p>
          <a:p>
            <a:pPr algn="just">
              <a:lnSpc>
                <a:spcPts val="4480"/>
              </a:lnSpc>
              <a:spcBef>
                <a:spcPct val="0"/>
              </a:spcBef>
            </a:pPr>
            <a:r>
              <a:rPr lang="en-US" b="true" sz="3200">
                <a:solidFill>
                  <a:srgbClr val="1E2E1D"/>
                </a:solidFill>
                <a:latin typeface="Agrandir Tight Bold"/>
                <a:ea typeface="Agrandir Tight Bold"/>
                <a:cs typeface="Agrandir Tight Bold"/>
                <a:sym typeface="Agrandir Tight Bold"/>
              </a:rPr>
              <a:t>It helps identify valid assignments and reject combinations that violate specified rules. Scheme-related results should be presented as preliminary checks; official eligibility and approval depend on the relevant authorities.</a:t>
            </a:r>
          </a:p>
        </p:txBody>
      </p:sp>
      <p:sp>
        <p:nvSpPr>
          <p:cNvPr name="TextBox 12" id="12"/>
          <p:cNvSpPr txBox="true"/>
          <p:nvPr/>
        </p:nvSpPr>
        <p:spPr>
          <a:xfrm rot="0">
            <a:off x="812651" y="8313103"/>
            <a:ext cx="17475349" cy="1747520"/>
          </a:xfrm>
          <a:prstGeom prst="rect">
            <a:avLst/>
          </a:prstGeom>
        </p:spPr>
        <p:txBody>
          <a:bodyPr anchor="t" rtlCol="false" tIns="0" lIns="0" bIns="0" rIns="0">
            <a:spAutoFit/>
          </a:bodyPr>
          <a:lstStyle/>
          <a:p>
            <a:pPr algn="l">
              <a:lnSpc>
                <a:spcPts val="4480"/>
              </a:lnSpc>
              <a:spcBef>
                <a:spcPct val="0"/>
              </a:spcBef>
            </a:pPr>
            <a:r>
              <a:rPr lang="en-US" b="true" sz="3200" u="sng">
                <a:solidFill>
                  <a:srgbClr val="1E2E1D"/>
                </a:solidFill>
                <a:latin typeface="Agrandir Tight Bold"/>
                <a:ea typeface="Agrandir Tight Bold"/>
                <a:cs typeface="Agrandir Tight Bold"/>
                <a:sym typeface="Agrandir Tight Bold"/>
              </a:rPr>
              <a:t>Combined Approach</a:t>
            </a:r>
          </a:p>
          <a:p>
            <a:pPr algn="l">
              <a:lnSpc>
                <a:spcPts val="4480"/>
              </a:lnSpc>
              <a:spcBef>
                <a:spcPct val="0"/>
              </a:spcBef>
            </a:pPr>
            <a:r>
              <a:rPr lang="en-US" b="true" sz="3200">
                <a:solidFill>
                  <a:srgbClr val="1E2E1D"/>
                </a:solidFill>
                <a:latin typeface="Agrandir Tight Bold"/>
                <a:ea typeface="Agrandir Tight Bold"/>
                <a:cs typeface="Agrandir Tight Bold"/>
                <a:sym typeface="Agrandir Tight Bold"/>
              </a:rPr>
              <a:t>A* prioritizes promising job matches, while CSP checks whether the selected matches satisfy the required constraints.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1670704" y="2758061"/>
            <a:ext cx="14946593" cy="6963633"/>
            <a:chOff x="0" y="0"/>
            <a:chExt cx="1302669" cy="606915"/>
          </a:xfrm>
        </p:grpSpPr>
        <p:sp>
          <p:nvSpPr>
            <p:cNvPr name="Freeform 4" id="4"/>
            <p:cNvSpPr/>
            <p:nvPr/>
          </p:nvSpPr>
          <p:spPr>
            <a:xfrm flipH="false" flipV="false" rot="0">
              <a:off x="0" y="0"/>
              <a:ext cx="1302669" cy="606915"/>
            </a:xfrm>
            <a:custGeom>
              <a:avLst/>
              <a:gdLst/>
              <a:ahLst/>
              <a:cxnLst/>
              <a:rect r="r" b="b" t="t" l="l"/>
              <a:pathLst>
                <a:path h="606915" w="1302669">
                  <a:moveTo>
                    <a:pt x="0" y="0"/>
                  </a:moveTo>
                  <a:lnTo>
                    <a:pt x="1302669" y="0"/>
                  </a:lnTo>
                  <a:lnTo>
                    <a:pt x="1302669" y="606915"/>
                  </a:lnTo>
                  <a:lnTo>
                    <a:pt x="0" y="606915"/>
                  </a:lnTo>
                  <a:close/>
                </a:path>
              </a:pathLst>
            </a:custGeom>
            <a:solidFill>
              <a:srgbClr val="F4DDC0"/>
            </a:solidFill>
          </p:spPr>
        </p:sp>
        <p:sp>
          <p:nvSpPr>
            <p:cNvPr name="TextBox 5" id="5"/>
            <p:cNvSpPr txBox="true"/>
            <p:nvPr/>
          </p:nvSpPr>
          <p:spPr>
            <a:xfrm>
              <a:off x="0" y="-161925"/>
              <a:ext cx="1302669" cy="768840"/>
            </a:xfrm>
            <a:prstGeom prst="rect">
              <a:avLst/>
            </a:prstGeom>
          </p:spPr>
          <p:txBody>
            <a:bodyPr anchor="ctr" rtlCol="false" tIns="50800" lIns="50800" bIns="50800" rIns="50800"/>
            <a:lstStyle/>
            <a:p>
              <a:pPr algn="ctr">
                <a:lnSpc>
                  <a:spcPts val="5040"/>
                </a:lnSpc>
                <a:spcBef>
                  <a:spcPct val="0"/>
                </a:spcBef>
              </a:pPr>
            </a:p>
          </p:txBody>
        </p:sp>
      </p:grpSp>
      <p:sp>
        <p:nvSpPr>
          <p:cNvPr name="Freeform 6" id="6"/>
          <p:cNvSpPr/>
          <p:nvPr/>
        </p:nvSpPr>
        <p:spPr>
          <a:xfrm flipH="false" flipV="false" rot="0">
            <a:off x="11861970" y="3291111"/>
            <a:ext cx="1718276" cy="1589405"/>
          </a:xfrm>
          <a:custGeom>
            <a:avLst/>
            <a:gdLst/>
            <a:ahLst/>
            <a:cxnLst/>
            <a:rect r="r" b="b" t="t" l="l"/>
            <a:pathLst>
              <a:path h="1589405" w="1718276">
                <a:moveTo>
                  <a:pt x="0" y="0"/>
                </a:moveTo>
                <a:lnTo>
                  <a:pt x="1718276" y="0"/>
                </a:lnTo>
                <a:lnTo>
                  <a:pt x="1718276" y="1589405"/>
                </a:lnTo>
                <a:lnTo>
                  <a:pt x="0" y="15894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137232" y="5143500"/>
            <a:ext cx="1395849" cy="1550944"/>
          </a:xfrm>
          <a:custGeom>
            <a:avLst/>
            <a:gdLst/>
            <a:ahLst/>
            <a:cxnLst/>
            <a:rect r="r" b="b" t="t" l="l"/>
            <a:pathLst>
              <a:path h="1550944" w="1395849">
                <a:moveTo>
                  <a:pt x="0" y="0"/>
                </a:moveTo>
                <a:lnTo>
                  <a:pt x="1395850" y="0"/>
                </a:lnTo>
                <a:lnTo>
                  <a:pt x="1395850" y="1550944"/>
                </a:lnTo>
                <a:lnTo>
                  <a:pt x="0" y="1550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023184" y="7501211"/>
            <a:ext cx="1623947" cy="1794416"/>
          </a:xfrm>
          <a:custGeom>
            <a:avLst/>
            <a:gdLst/>
            <a:ahLst/>
            <a:cxnLst/>
            <a:rect r="r" b="b" t="t" l="l"/>
            <a:pathLst>
              <a:path h="1794416" w="1623947">
                <a:moveTo>
                  <a:pt x="0" y="0"/>
                </a:moveTo>
                <a:lnTo>
                  <a:pt x="1623946" y="0"/>
                </a:lnTo>
                <a:lnTo>
                  <a:pt x="1623946" y="1794416"/>
                </a:lnTo>
                <a:lnTo>
                  <a:pt x="0" y="17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4341036" y="800100"/>
            <a:ext cx="10991223" cy="1957961"/>
          </a:xfrm>
          <a:prstGeom prst="rect">
            <a:avLst/>
          </a:prstGeom>
        </p:spPr>
        <p:txBody>
          <a:bodyPr anchor="t" rtlCol="false" tIns="0" lIns="0" bIns="0" rIns="0">
            <a:spAutoFit/>
          </a:bodyPr>
          <a:lstStyle/>
          <a:p>
            <a:pPr algn="ctr">
              <a:lnSpc>
                <a:spcPts val="15711"/>
              </a:lnSpc>
            </a:pPr>
            <a:r>
              <a:rPr lang="en-US" sz="11222" b="true">
                <a:solidFill>
                  <a:srgbClr val="1E2E1D"/>
                </a:solidFill>
                <a:latin typeface="The Seasons Bold"/>
                <a:ea typeface="The Seasons Bold"/>
                <a:cs typeface="The Seasons Bold"/>
                <a:sym typeface="The Seasons Bold"/>
              </a:rPr>
              <a:t>Implementation</a:t>
            </a:r>
          </a:p>
        </p:txBody>
      </p:sp>
      <p:sp>
        <p:nvSpPr>
          <p:cNvPr name="TextBox 10" id="10"/>
          <p:cNvSpPr txBox="true"/>
          <p:nvPr/>
        </p:nvSpPr>
        <p:spPr>
          <a:xfrm rot="0">
            <a:off x="-4164293" y="3014886"/>
            <a:ext cx="13662586"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1E2E1D"/>
                </a:solidFill>
                <a:latin typeface="Agrandir Tight Bold"/>
                <a:ea typeface="Agrandir Tight Bold"/>
                <a:cs typeface="Agrandir Tight Bold"/>
                <a:sym typeface="Agrandir Tight Bold"/>
              </a:rPr>
              <a:t>Frontend</a:t>
            </a:r>
          </a:p>
        </p:txBody>
      </p:sp>
      <p:sp>
        <p:nvSpPr>
          <p:cNvPr name="TextBox 11" id="11"/>
          <p:cNvSpPr txBox="true"/>
          <p:nvPr/>
        </p:nvSpPr>
        <p:spPr>
          <a:xfrm rot="0">
            <a:off x="2046791" y="3580671"/>
            <a:ext cx="5017889" cy="1185545"/>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1E2E1D"/>
                </a:solidFill>
                <a:latin typeface="Agrandir Tight Bold"/>
                <a:ea typeface="Agrandir Tight Bold"/>
                <a:cs typeface="Agrandir Tight Bold"/>
                <a:sym typeface="Agrandir Tight Bold"/>
              </a:rPr>
              <a:t> React.js (JavaScript/JSX)</a:t>
            </a:r>
          </a:p>
          <a:p>
            <a:pPr algn="l" marL="690881" indent="-345440" lvl="1">
              <a:lnSpc>
                <a:spcPts val="4480"/>
              </a:lnSpc>
              <a:spcBef>
                <a:spcPct val="0"/>
              </a:spcBef>
              <a:buFont typeface="Arial"/>
              <a:buChar char="•"/>
            </a:pPr>
            <a:r>
              <a:rPr lang="en-US" b="true" sz="3200">
                <a:solidFill>
                  <a:srgbClr val="1E2E1D"/>
                </a:solidFill>
                <a:latin typeface="Agrandir Tight Bold"/>
                <a:ea typeface="Agrandir Tight Bold"/>
                <a:cs typeface="Agrandir Tight Bold"/>
                <a:sym typeface="Agrandir Tight Bold"/>
              </a:rPr>
              <a:t> CSS</a:t>
            </a:r>
          </a:p>
        </p:txBody>
      </p:sp>
      <p:sp>
        <p:nvSpPr>
          <p:cNvPr name="TextBox 12" id="12"/>
          <p:cNvSpPr txBox="true"/>
          <p:nvPr/>
        </p:nvSpPr>
        <p:spPr>
          <a:xfrm rot="0">
            <a:off x="778264" y="4981575"/>
            <a:ext cx="3777472"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1E2E1D"/>
                </a:solidFill>
                <a:latin typeface="Agrandir Tight Bold"/>
                <a:ea typeface="Agrandir Tight Bold"/>
                <a:cs typeface="Agrandir Tight Bold"/>
                <a:sym typeface="Agrandir Tight Bold"/>
              </a:rPr>
              <a:t>Backend</a:t>
            </a:r>
          </a:p>
        </p:txBody>
      </p:sp>
      <p:sp>
        <p:nvSpPr>
          <p:cNvPr name="TextBox 13" id="13"/>
          <p:cNvSpPr txBox="true"/>
          <p:nvPr/>
        </p:nvSpPr>
        <p:spPr>
          <a:xfrm rot="0">
            <a:off x="2046791" y="5674043"/>
            <a:ext cx="4583393" cy="2623185"/>
          </a:xfrm>
          <a:prstGeom prst="rect">
            <a:avLst/>
          </a:prstGeom>
        </p:spPr>
        <p:txBody>
          <a:bodyPr anchor="t" rtlCol="false" tIns="0" lIns="0" bIns="0" rIns="0">
            <a:spAutoFit/>
          </a:bodyPr>
          <a:lstStyle/>
          <a:p>
            <a:pPr algn="just" marL="777240" indent="-388620" lvl="1">
              <a:lnSpc>
                <a:spcPts val="5040"/>
              </a:lnSpc>
              <a:buFont typeface="Arial"/>
              <a:buChar char="•"/>
            </a:pPr>
            <a:r>
              <a:rPr lang="en-US" b="true" sz="3600">
                <a:solidFill>
                  <a:srgbClr val="1E2E1D"/>
                </a:solidFill>
                <a:latin typeface="Agrandir Tight Bold"/>
                <a:ea typeface="Agrandir Tight Bold"/>
                <a:cs typeface="Agrandir Tight Bold"/>
                <a:sym typeface="Agrandir Tight Bold"/>
              </a:rPr>
              <a:t>Python</a:t>
            </a:r>
          </a:p>
          <a:p>
            <a:pPr algn="just" marL="777240" indent="-388620" lvl="1">
              <a:lnSpc>
                <a:spcPts val="5040"/>
              </a:lnSpc>
              <a:buFont typeface="Arial"/>
              <a:buChar char="•"/>
            </a:pPr>
            <a:r>
              <a:rPr lang="en-US" b="true" sz="3600">
                <a:solidFill>
                  <a:srgbClr val="1E2E1D"/>
                </a:solidFill>
                <a:latin typeface="Agrandir Tight Bold"/>
                <a:ea typeface="Agrandir Tight Bold"/>
                <a:cs typeface="Agrandir Tight Bold"/>
                <a:sym typeface="Agrandir Tight Bold"/>
              </a:rPr>
              <a:t>FastAPI</a:t>
            </a:r>
          </a:p>
          <a:p>
            <a:pPr algn="just" marL="777240" indent="-388620" lvl="1">
              <a:lnSpc>
                <a:spcPts val="5040"/>
              </a:lnSpc>
              <a:buFont typeface="Arial"/>
              <a:buChar char="•"/>
            </a:pPr>
            <a:r>
              <a:rPr lang="en-US" b="true" sz="3600">
                <a:solidFill>
                  <a:srgbClr val="1E2E1D"/>
                </a:solidFill>
                <a:latin typeface="Agrandir Tight Bold"/>
                <a:ea typeface="Agrandir Tight Bold"/>
                <a:cs typeface="Agrandir Tight Bold"/>
                <a:sym typeface="Agrandir Tight Bold"/>
              </a:rPr>
              <a:t>REST API endpoints</a:t>
            </a:r>
          </a:p>
          <a:p>
            <a:pPr algn="just">
              <a:lnSpc>
                <a:spcPts val="5040"/>
              </a:lnSpc>
              <a:spcBef>
                <a:spcPct val="0"/>
              </a:spcBef>
            </a:pPr>
          </a:p>
        </p:txBody>
      </p:sp>
      <p:sp>
        <p:nvSpPr>
          <p:cNvPr name="TextBox 14" id="14"/>
          <p:cNvSpPr txBox="true"/>
          <p:nvPr/>
        </p:nvSpPr>
        <p:spPr>
          <a:xfrm rot="0">
            <a:off x="1167343" y="7861935"/>
            <a:ext cx="3173693"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1E2E1D"/>
                </a:solidFill>
                <a:latin typeface="Agrandir Tight Bold"/>
                <a:ea typeface="Agrandir Tight Bold"/>
                <a:cs typeface="Agrandir Tight Bold"/>
                <a:sym typeface="Agrandir Tight Bold"/>
              </a:rPr>
              <a:t>Database</a:t>
            </a:r>
          </a:p>
        </p:txBody>
      </p:sp>
      <p:sp>
        <p:nvSpPr>
          <p:cNvPr name="TextBox 15" id="15"/>
          <p:cNvSpPr txBox="true"/>
          <p:nvPr/>
        </p:nvSpPr>
        <p:spPr>
          <a:xfrm rot="0">
            <a:off x="2046791" y="8408670"/>
            <a:ext cx="2302867" cy="1346835"/>
          </a:xfrm>
          <a:prstGeom prst="rect">
            <a:avLst/>
          </a:prstGeom>
        </p:spPr>
        <p:txBody>
          <a:bodyPr anchor="t" rtlCol="false" tIns="0" lIns="0" bIns="0" rIns="0">
            <a:spAutoFit/>
          </a:bodyPr>
          <a:lstStyle/>
          <a:p>
            <a:pPr algn="ctr" marL="777240" indent="-388620" lvl="1">
              <a:lnSpc>
                <a:spcPts val="5040"/>
              </a:lnSpc>
              <a:buFont typeface="Arial"/>
              <a:buChar char="•"/>
            </a:pPr>
            <a:r>
              <a:rPr lang="en-US" b="true" sz="3600">
                <a:solidFill>
                  <a:srgbClr val="1E2E1D"/>
                </a:solidFill>
                <a:latin typeface="Agrandir Tight Bold"/>
                <a:ea typeface="Agrandir Tight Bold"/>
                <a:cs typeface="Agrandir Tight Bold"/>
                <a:sym typeface="Agrandir Tight Bold"/>
              </a:rPr>
              <a:t>SQLite</a:t>
            </a:r>
          </a:p>
          <a:p>
            <a:pPr algn="ctr">
              <a:lnSpc>
                <a:spcPts val="504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0">
            <a:off x="781666" y="3593403"/>
            <a:ext cx="7676534" cy="5995795"/>
          </a:xfrm>
          <a:custGeom>
            <a:avLst/>
            <a:gdLst/>
            <a:ahLst/>
            <a:cxnLst/>
            <a:rect r="r" b="b" t="t" l="l"/>
            <a:pathLst>
              <a:path h="5995795" w="7676534">
                <a:moveTo>
                  <a:pt x="0" y="0"/>
                </a:moveTo>
                <a:lnTo>
                  <a:pt x="7676534" y="0"/>
                </a:lnTo>
                <a:lnTo>
                  <a:pt x="7676534" y="5995794"/>
                </a:lnTo>
                <a:lnTo>
                  <a:pt x="0" y="5995794"/>
                </a:lnTo>
                <a:lnTo>
                  <a:pt x="0" y="0"/>
                </a:lnTo>
                <a:close/>
              </a:path>
            </a:pathLst>
          </a:custGeom>
          <a:blipFill>
            <a:blip r:embed="rId3"/>
            <a:stretch>
              <a:fillRect l="0" t="-1012" r="0" b="-1012"/>
            </a:stretch>
          </a:blipFill>
        </p:spPr>
      </p:sp>
      <p:sp>
        <p:nvSpPr>
          <p:cNvPr name="Freeform 4" id="4"/>
          <p:cNvSpPr/>
          <p:nvPr/>
        </p:nvSpPr>
        <p:spPr>
          <a:xfrm flipH="false" flipV="false" rot="0">
            <a:off x="10245535" y="3593403"/>
            <a:ext cx="6483730" cy="6239762"/>
          </a:xfrm>
          <a:custGeom>
            <a:avLst/>
            <a:gdLst/>
            <a:ahLst/>
            <a:cxnLst/>
            <a:rect r="r" b="b" t="t" l="l"/>
            <a:pathLst>
              <a:path h="6239762" w="6483730">
                <a:moveTo>
                  <a:pt x="0" y="0"/>
                </a:moveTo>
                <a:lnTo>
                  <a:pt x="6483730" y="0"/>
                </a:lnTo>
                <a:lnTo>
                  <a:pt x="6483730" y="6239762"/>
                </a:lnTo>
                <a:lnTo>
                  <a:pt x="0" y="6239762"/>
                </a:lnTo>
                <a:lnTo>
                  <a:pt x="0" y="0"/>
                </a:lnTo>
                <a:close/>
              </a:path>
            </a:pathLst>
          </a:custGeom>
          <a:blipFill>
            <a:blip r:embed="rId4"/>
            <a:stretch>
              <a:fillRect l="0" t="-3909" r="0" b="0"/>
            </a:stretch>
          </a:blipFill>
        </p:spPr>
      </p:sp>
      <p:sp>
        <p:nvSpPr>
          <p:cNvPr name="Freeform 5" id="5"/>
          <p:cNvSpPr/>
          <p:nvPr/>
        </p:nvSpPr>
        <p:spPr>
          <a:xfrm flipH="false" flipV="false" rot="0">
            <a:off x="5077133" y="230649"/>
            <a:ext cx="1895822" cy="1895822"/>
          </a:xfrm>
          <a:custGeom>
            <a:avLst/>
            <a:gdLst/>
            <a:ahLst/>
            <a:cxnLst/>
            <a:rect r="r" b="b" t="t" l="l"/>
            <a:pathLst>
              <a:path h="1895822" w="1895822">
                <a:moveTo>
                  <a:pt x="0" y="0"/>
                </a:moveTo>
                <a:lnTo>
                  <a:pt x="1895822" y="0"/>
                </a:lnTo>
                <a:lnTo>
                  <a:pt x="1895822" y="1895822"/>
                </a:lnTo>
                <a:lnTo>
                  <a:pt x="0" y="18958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724110" y="2384108"/>
            <a:ext cx="3791645"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grandir Tight Bold"/>
                <a:ea typeface="Agrandir Tight Bold"/>
                <a:cs typeface="Agrandir Tight Bold"/>
                <a:sym typeface="Agrandir Tight Bold"/>
              </a:rPr>
              <a:t>Owner’s Dashboard</a:t>
            </a:r>
          </a:p>
        </p:txBody>
      </p:sp>
      <p:sp>
        <p:nvSpPr>
          <p:cNvPr name="TextBox 7" id="7"/>
          <p:cNvSpPr txBox="true"/>
          <p:nvPr/>
        </p:nvSpPr>
        <p:spPr>
          <a:xfrm rot="0">
            <a:off x="11509970" y="2384107"/>
            <a:ext cx="3954859" cy="70866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grandir Tight Bold"/>
                <a:ea typeface="Agrandir Tight Bold"/>
                <a:cs typeface="Agrandir Tight Bold"/>
                <a:sym typeface="Agrandir Tight Bold"/>
              </a:rPr>
              <a:t>Worker’s Dashboard</a:t>
            </a:r>
          </a:p>
        </p:txBody>
      </p:sp>
      <p:sp>
        <p:nvSpPr>
          <p:cNvPr name="TextBox 8" id="8"/>
          <p:cNvSpPr txBox="true"/>
          <p:nvPr/>
        </p:nvSpPr>
        <p:spPr>
          <a:xfrm rot="0">
            <a:off x="7337127" y="96837"/>
            <a:ext cx="4668143" cy="1944371"/>
          </a:xfrm>
          <a:prstGeom prst="rect">
            <a:avLst/>
          </a:prstGeom>
        </p:spPr>
        <p:txBody>
          <a:bodyPr anchor="t" rtlCol="false" tIns="0" lIns="0" bIns="0" rIns="0">
            <a:spAutoFit/>
          </a:bodyPr>
          <a:lstStyle/>
          <a:p>
            <a:pPr algn="ctr">
              <a:lnSpc>
                <a:spcPts val="15679"/>
              </a:lnSpc>
              <a:spcBef>
                <a:spcPct val="0"/>
              </a:spcBef>
            </a:pPr>
            <a:r>
              <a:rPr lang="en-US" b="true" sz="11199">
                <a:solidFill>
                  <a:srgbClr val="000000"/>
                </a:solidFill>
                <a:latin typeface="The Seasons Bold"/>
                <a:ea typeface="The Seasons Bold"/>
                <a:cs typeface="The Seasons Bold"/>
                <a:sym typeface="The Seasons Bold"/>
              </a:rPr>
              <a:t>Output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0">
            <a:off x="2956331" y="1028700"/>
            <a:ext cx="12375338" cy="8229600"/>
          </a:xfrm>
          <a:custGeom>
            <a:avLst/>
            <a:gdLst/>
            <a:ahLst/>
            <a:cxnLst/>
            <a:rect r="r" b="b" t="t" l="l"/>
            <a:pathLst>
              <a:path h="8229600" w="12375338">
                <a:moveTo>
                  <a:pt x="0" y="0"/>
                </a:moveTo>
                <a:lnTo>
                  <a:pt x="12375338" y="0"/>
                </a:lnTo>
                <a:lnTo>
                  <a:pt x="12375338" y="8229600"/>
                </a:lnTo>
                <a:lnTo>
                  <a:pt x="0" y="8229600"/>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DAHYPFUuT_Q</dc:identifier>
  <dcterms:modified xsi:type="dcterms:W3CDTF">2011-08-01T06:04:30Z</dcterms:modified>
  <cp:revision>1</cp:revision>
  <dc:title>FOAI Project Presentation</dc:title>
</cp:coreProperties>
</file>